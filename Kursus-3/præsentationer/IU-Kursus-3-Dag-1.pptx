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5" r:id="rId4"/>
  </p:sldMasterIdLst>
  <p:notesMasterIdLst>
    <p:notesMasterId r:id="rId56"/>
  </p:notesMasterIdLst>
  <p:sldIdLst>
    <p:sldId id="1902" r:id="rId5"/>
    <p:sldId id="1904" r:id="rId6"/>
    <p:sldId id="1898" r:id="rId7"/>
    <p:sldId id="2134806488" r:id="rId8"/>
    <p:sldId id="2134806489" r:id="rId9"/>
    <p:sldId id="1903" r:id="rId10"/>
    <p:sldId id="2134806458" r:id="rId11"/>
    <p:sldId id="1896" r:id="rId12"/>
    <p:sldId id="1895" r:id="rId13"/>
    <p:sldId id="2134806457" r:id="rId14"/>
    <p:sldId id="2134806459" r:id="rId15"/>
    <p:sldId id="1897" r:id="rId16"/>
    <p:sldId id="2134806452" r:id="rId17"/>
    <p:sldId id="2134806446" r:id="rId18"/>
    <p:sldId id="2134806462" r:id="rId19"/>
    <p:sldId id="2134806461" r:id="rId20"/>
    <p:sldId id="2134806475" r:id="rId21"/>
    <p:sldId id="2134806464" r:id="rId22"/>
    <p:sldId id="2134806465" r:id="rId23"/>
    <p:sldId id="2134806466" r:id="rId24"/>
    <p:sldId id="2134806437" r:id="rId25"/>
    <p:sldId id="2134806469" r:id="rId26"/>
    <p:sldId id="2134806470" r:id="rId27"/>
    <p:sldId id="2134806460" r:id="rId28"/>
    <p:sldId id="2134806476" r:id="rId29"/>
    <p:sldId id="2134806477" r:id="rId30"/>
    <p:sldId id="2134806478" r:id="rId31"/>
    <p:sldId id="2134806480" r:id="rId32"/>
    <p:sldId id="2134806453" r:id="rId33"/>
    <p:sldId id="2134806451" r:id="rId34"/>
    <p:sldId id="2134806329" r:id="rId35"/>
    <p:sldId id="2134806410" r:id="rId36"/>
    <p:sldId id="2134806444" r:id="rId37"/>
    <p:sldId id="2134806447" r:id="rId38"/>
    <p:sldId id="2134806450" r:id="rId39"/>
    <p:sldId id="2134806445" r:id="rId40"/>
    <p:sldId id="2134806422" r:id="rId41"/>
    <p:sldId id="2134806440" r:id="rId42"/>
    <p:sldId id="2134806448" r:id="rId43"/>
    <p:sldId id="2134806481" r:id="rId44"/>
    <p:sldId id="2134806454" r:id="rId45"/>
    <p:sldId id="1901" r:id="rId46"/>
    <p:sldId id="2134806305" r:id="rId47"/>
    <p:sldId id="2134806482" r:id="rId48"/>
    <p:sldId id="431" r:id="rId49"/>
    <p:sldId id="2134806354" r:id="rId50"/>
    <p:sldId id="2134806355" r:id="rId51"/>
    <p:sldId id="2134806484" r:id="rId52"/>
    <p:sldId id="2134806483" r:id="rId53"/>
    <p:sldId id="2134806485" r:id="rId54"/>
    <p:sldId id="2134806487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BD9B63F-778D-4D9D-DB16-17A170F388A9}" name="Michael Bladt Stausholm" initials="MS" userId="S::michael.stausholm@alexandra.dk::aa5f8758-c00f-4915-8c94-9445905eb56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371"/>
    <a:srgbClr val="D4B000"/>
    <a:srgbClr val="003843"/>
    <a:srgbClr val="798690"/>
    <a:srgbClr val="D7D8D7"/>
    <a:srgbClr val="F6C821"/>
    <a:srgbClr val="C5A3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14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microsoft.com/office/2018/10/relationships/authors" Target="author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8A8B2-9967-5C4C-B793-6C24CF068DE2}" type="datetimeFigureOut">
              <a:rPr lang="da-DK" smtClean="0"/>
              <a:t>16-03-2026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F29A2-4FD5-4341-8EB7-C2CDDFE66A5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1671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22498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178FC-5AAC-7150-6310-128D341E6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0CA2A-F20B-2704-BC04-185492888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78C619-5703-565B-8B8A-8DAB18AA6C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FA9F8D-AAFC-526D-23CF-9E1D9B91EF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08792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4B43A-C39D-E1C0-91EE-F0253107A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BB6D1-321A-6A3B-BB40-CB5B6410B8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C984C-62D6-7213-4F5B-0AF7FE093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50AE4-D747-FF29-88FB-45895E5A80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29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98801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/>
              <a:t>Nyt navn for forbedret teknologi </a:t>
            </a:r>
          </a:p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31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73300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A7DCE-5BEC-027C-5AAF-4C796DFFE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313CB6-7254-713B-0C44-6B2180AFC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5F18B1-1429-AA5E-A55D-CF5EC1E61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97891-81F6-3DAB-64EA-5B55A916F7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41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9933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DA62B-E424-1882-BDE3-A9F3C5370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6AB9D8-6197-F486-A3EF-F7B8F2855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DB3E39-395F-72A2-75A2-F995D16E6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36568-E23B-15AB-DAF5-401C140C6B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47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98216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718F2-A0DD-5F26-3C1F-FF27C75DA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A5F546-2980-345D-4537-D1D03FB591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9146A-138C-CD5F-42D3-F68DBA9D0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EFB27-B859-1FDB-FC3E-97DBF16FCF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48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482579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AC091-5CAE-5F5C-190B-FBEAF7764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795573-4043-B94E-F683-BA55EF806D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731233-E0D6-B2A4-C325-B5C2D40FC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CBBED-A346-CA91-035F-2CE32EDD4D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49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8011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GENERI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 descr="Et billede, der indeholder kaffekop, krus, bord, bordservice&#10;&#10;AI-genereret indhold kan være ukorrekt.">
            <a:extLst>
              <a:ext uri="{FF2B5EF4-FFF2-40B4-BE49-F238E27FC236}">
                <a16:creationId xmlns:a16="http://schemas.microsoft.com/office/drawing/2014/main" id="{C121535F-D843-EA03-AF0E-364245AE2B7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4258" b="-23475"/>
          <a:stretch>
            <a:fillRect/>
          </a:stretch>
        </p:blipFill>
        <p:spPr>
          <a:xfrm>
            <a:off x="2266094" y="0"/>
            <a:ext cx="9925906" cy="5554075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da-DK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4541233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SIKKERH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 descr="Et billede, der indeholder kredsløb, elektronik, Elektronisk komponent, Elektroteknik&#10;&#10;AI-genereret indhold kan være ukorrekt.">
            <a:extLst>
              <a:ext uri="{FF2B5EF4-FFF2-40B4-BE49-F238E27FC236}">
                <a16:creationId xmlns:a16="http://schemas.microsoft.com/office/drawing/2014/main" id="{B083C026-0090-3194-76FE-2AB9675B52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411" r="21876"/>
          <a:stretch>
            <a:fillRect/>
          </a:stretch>
        </p:blipFill>
        <p:spPr>
          <a:xfrm>
            <a:off x="2667157" y="-1"/>
            <a:ext cx="9524843" cy="4498123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da-DK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297286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BÆREDYG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lede 10" descr="Et billede, der indeholder træ, person, udendørs, tøj&#10;&#10;AI-genereret indhold kan være ukorrekt.">
            <a:extLst>
              <a:ext uri="{FF2B5EF4-FFF2-40B4-BE49-F238E27FC236}">
                <a16:creationId xmlns:a16="http://schemas.microsoft.com/office/drawing/2014/main" id="{1D5533EA-34A2-1C3E-82C4-F40F51E17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485" y="0"/>
            <a:ext cx="8051515" cy="4528977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200185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 descr="Et billede, der indeholder person, fyrværkeri, lys/lygte&#10;&#10;AI-genereret indhold kan være ukorrekt.">
            <a:extLst>
              <a:ext uri="{FF2B5EF4-FFF2-40B4-BE49-F238E27FC236}">
                <a16:creationId xmlns:a16="http://schemas.microsoft.com/office/drawing/2014/main" id="{5D29AC76-5194-A073-E319-3DA1BCEAF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357" y="0"/>
            <a:ext cx="8164530" cy="4592548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540411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I Sprogteknolog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 descr="Et billede, der indeholder person, indendørs, tøj, Ansigt&#10;&#10;AI-genereret indhold kan være ukorrekt.">
            <a:extLst>
              <a:ext uri="{FF2B5EF4-FFF2-40B4-BE49-F238E27FC236}">
                <a16:creationId xmlns:a16="http://schemas.microsoft.com/office/drawing/2014/main" id="{869A67AF-8795-6ADF-B0C8-64901637480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>
            <a:fillRect/>
          </a:stretch>
        </p:blipFill>
        <p:spPr>
          <a:xfrm>
            <a:off x="4265662" y="0"/>
            <a:ext cx="7926338" cy="4687743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179987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SUNDH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illede 16" descr="Et billede, der indeholder skærmbillede, elektronik, musik&#10;&#10;AI-genereret indhold kan være ukorrekt.">
            <a:extLst>
              <a:ext uri="{FF2B5EF4-FFF2-40B4-BE49-F238E27FC236}">
                <a16:creationId xmlns:a16="http://schemas.microsoft.com/office/drawing/2014/main" id="{0C704087-8C8C-A1EB-7981-3819ABE47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365" y="0"/>
            <a:ext cx="8018635" cy="4510482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131753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id side - 1 tekst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F550DC7-A416-CF41-A483-9ADA70B39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000" y="1620000"/>
            <a:ext cx="10440000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60000" indent="-360000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58775">
              <a:spcBef>
                <a:spcPts val="600"/>
              </a:spcBef>
              <a:buClrTx/>
              <a:tabLst/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ClrTx/>
              <a:tabLst/>
              <a:defRPr sz="18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80000" indent="-360000">
              <a:defRPr>
                <a:latin typeface="Montserrat" pitchFamily="2" charset="77"/>
                <a:cs typeface="Arial" panose="020B060402020202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itle Placeholder 4">
            <a:extLst>
              <a:ext uri="{FF2B5EF4-FFF2-40B4-BE49-F238E27FC236}">
                <a16:creationId xmlns:a16="http://schemas.microsoft.com/office/drawing/2014/main" id="{428A49A8-7DC3-9A4F-9771-3C7CD6044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540000"/>
            <a:ext cx="1044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b="0"/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1BB2F60C-788E-9A59-EF13-80326069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16-03-2026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C715199F-1D98-9548-D278-C6709A1D5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1842143F-A33C-07B8-623A-3A8B9C79E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01522963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vid side - 1 tekst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F550DC7-A416-CF41-A483-9ADA70B39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999" y="1620000"/>
            <a:ext cx="5040000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60000" indent="-360000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58775">
              <a:spcBef>
                <a:spcPts val="600"/>
              </a:spcBef>
              <a:buClrTx/>
              <a:tabLst/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ClrTx/>
              <a:tabLst/>
              <a:defRPr sz="18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80000" indent="-360000">
              <a:defRPr>
                <a:latin typeface="Montserrat" pitchFamily="2" charset="77"/>
                <a:cs typeface="Arial" panose="020B060402020202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itle Placeholder 4">
            <a:extLst>
              <a:ext uri="{FF2B5EF4-FFF2-40B4-BE49-F238E27FC236}">
                <a16:creationId xmlns:a16="http://schemas.microsoft.com/office/drawing/2014/main" id="{428A49A8-7DC3-9A4F-9771-3C7CD6044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540000"/>
            <a:ext cx="1044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b="0"/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1BB2F60C-788E-9A59-EF13-80326069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16-03-2026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C715199F-1D98-9548-D278-C6709A1D5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1842143F-A33C-07B8-623A-3A8B9C79E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0D059A8-DCE4-A46D-60D3-F398DD48FA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620000"/>
            <a:ext cx="5040000" cy="4337050"/>
          </a:xfrm>
        </p:spPr>
        <p:txBody>
          <a:bodyPr/>
          <a:lstStyle>
            <a:lvl2pPr>
              <a:defRPr lang="da-DK" sz="2000" kern="1200" noProof="0" dirty="0" smtClean="0">
                <a:solidFill>
                  <a:srgbClr val="34343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da-DK" sz="1800" kern="1200" dirty="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3394536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id side 2 tekstbok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e 3">
            <a:extLst>
              <a:ext uri="{FF2B5EF4-FFF2-40B4-BE49-F238E27FC236}">
                <a16:creationId xmlns:a16="http://schemas.microsoft.com/office/drawing/2014/main" id="{64C8BE60-2B52-C474-A2CB-1F64FF30550F}"/>
              </a:ext>
            </a:extLst>
          </p:cNvPr>
          <p:cNvGrpSpPr>
            <a:grpSpLocks/>
          </p:cNvGrpSpPr>
          <p:nvPr/>
        </p:nvGrpSpPr>
        <p:grpSpPr>
          <a:xfrm>
            <a:off x="6168866" y="0"/>
            <a:ext cx="6023133" cy="6875719"/>
            <a:chOff x="6168866" y="0"/>
            <a:chExt cx="6023133" cy="6875719"/>
          </a:xfrm>
        </p:grpSpPr>
        <p:sp>
          <p:nvSpPr>
            <p:cNvPr id="2" name="Right Triangle 5">
              <a:extLst>
                <a:ext uri="{FF2B5EF4-FFF2-40B4-BE49-F238E27FC236}">
                  <a16:creationId xmlns:a16="http://schemas.microsoft.com/office/drawing/2014/main" id="{BDA80A67-9751-09B1-DB0C-8281D5DF6CC4}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3876182" y="2292684"/>
              <a:ext cx="6875719" cy="2290351"/>
            </a:xfrm>
            <a:prstGeom prst="rtTriangle">
              <a:avLst/>
            </a:prstGeom>
            <a:solidFill>
              <a:srgbClr val="F2F2F2">
                <a:alpha val="760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" name="Rectangle 6">
              <a:extLst>
                <a:ext uri="{FF2B5EF4-FFF2-40B4-BE49-F238E27FC236}">
                  <a16:creationId xmlns:a16="http://schemas.microsoft.com/office/drawing/2014/main" id="{D1B89683-95FC-5F47-3B48-A48206CDFC66}"/>
                </a:ext>
              </a:extLst>
            </p:cNvPr>
            <p:cNvSpPr>
              <a:spLocks/>
            </p:cNvSpPr>
            <p:nvPr userDrawn="1"/>
          </p:nvSpPr>
          <p:spPr>
            <a:xfrm>
              <a:off x="8459216" y="0"/>
              <a:ext cx="3732783" cy="6858000"/>
            </a:xfrm>
            <a:prstGeom prst="rect">
              <a:avLst/>
            </a:prstGeom>
            <a:solidFill>
              <a:srgbClr val="F2F2F2">
                <a:alpha val="760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9" name="Title Placeholder 4">
            <a:extLst>
              <a:ext uri="{FF2B5EF4-FFF2-40B4-BE49-F238E27FC236}">
                <a16:creationId xmlns:a16="http://schemas.microsoft.com/office/drawing/2014/main" id="{428A49A8-7DC3-9A4F-9771-3C7CD6044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540000"/>
            <a:ext cx="1044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BFFC66B-5AED-2744-BFAE-4D029775E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999" y="1620000"/>
            <a:ext cx="6513171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600"/>
              </a:spcBef>
              <a:defRPr sz="24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>
              <a:spcBef>
                <a:spcPts val="600"/>
              </a:spcBef>
              <a:defRPr sz="18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8" name="Pladsholder til dato 7">
            <a:extLst>
              <a:ext uri="{FF2B5EF4-FFF2-40B4-BE49-F238E27FC236}">
                <a16:creationId xmlns:a16="http://schemas.microsoft.com/office/drawing/2014/main" id="{2E08A753-BCB9-AF7C-B2E7-E96AE441A1E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16-03-2026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A29B5240-8D55-E294-932C-E33FA9A3B5A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3" name="Pladsholder til slidenummer 12">
            <a:extLst>
              <a:ext uri="{FF2B5EF4-FFF2-40B4-BE49-F238E27FC236}">
                <a16:creationId xmlns:a16="http://schemas.microsoft.com/office/drawing/2014/main" id="{5E4341C0-49C3-7B86-12E9-938EE4813FD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90686426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id side venstre 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e 6">
            <a:extLst>
              <a:ext uri="{FF2B5EF4-FFF2-40B4-BE49-F238E27FC236}">
                <a16:creationId xmlns:a16="http://schemas.microsoft.com/office/drawing/2014/main" id="{007A8533-68AB-378D-1647-CF2D23CCC072}"/>
              </a:ext>
            </a:extLst>
          </p:cNvPr>
          <p:cNvGrpSpPr>
            <a:grpSpLocks/>
          </p:cNvGrpSpPr>
          <p:nvPr/>
        </p:nvGrpSpPr>
        <p:grpSpPr>
          <a:xfrm flipH="1" flipV="1">
            <a:off x="0" y="0"/>
            <a:ext cx="6023133" cy="6875719"/>
            <a:chOff x="6168866" y="0"/>
            <a:chExt cx="6023133" cy="6875719"/>
          </a:xfrm>
        </p:grpSpPr>
        <p:sp>
          <p:nvSpPr>
            <p:cNvPr id="8" name="Right Triangle 5">
              <a:extLst>
                <a:ext uri="{FF2B5EF4-FFF2-40B4-BE49-F238E27FC236}">
                  <a16:creationId xmlns:a16="http://schemas.microsoft.com/office/drawing/2014/main" id="{628F85BA-B21F-AE7E-9011-A1B5DB2B7A88}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3876182" y="2292684"/>
              <a:ext cx="6875719" cy="2290351"/>
            </a:xfrm>
            <a:prstGeom prst="rtTriangle">
              <a:avLst/>
            </a:prstGeom>
            <a:solidFill>
              <a:srgbClr val="F2F2F2">
                <a:alpha val="760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0B2FE402-7804-C57F-6F02-4FB1DEEF5C47}"/>
                </a:ext>
              </a:extLst>
            </p:cNvPr>
            <p:cNvSpPr>
              <a:spLocks/>
            </p:cNvSpPr>
            <p:nvPr userDrawn="1"/>
          </p:nvSpPr>
          <p:spPr>
            <a:xfrm>
              <a:off x="8459216" y="0"/>
              <a:ext cx="3732783" cy="6858000"/>
            </a:xfrm>
            <a:prstGeom prst="rect">
              <a:avLst/>
            </a:prstGeom>
            <a:solidFill>
              <a:srgbClr val="F2F2F2">
                <a:alpha val="760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14DFB6E2-64E7-8142-9C16-FF850D4F8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553998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34343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3" name="Pladsholder til tekst 3">
            <a:extLst>
              <a:ext uri="{FF2B5EF4-FFF2-40B4-BE49-F238E27FC236}">
                <a16:creationId xmlns:a16="http://schemas.microsoft.com/office/drawing/2014/main" id="{32B8AAA8-0DE4-0140-84C9-9A0D444C0E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84821" y="900000"/>
            <a:ext cx="6480000" cy="5205378"/>
          </a:xfrm>
        </p:spPr>
        <p:txBody>
          <a:bodyPr/>
          <a:lstStyle>
            <a:lvl1pPr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>
              <a:spcBef>
                <a:spcPts val="600"/>
              </a:spcBef>
              <a:buClr>
                <a:schemeClr val="tx1"/>
              </a:buClr>
              <a:defRPr sz="18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5pPr marL="342900" indent="-3429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5FB53F5E-23AB-0F2F-0254-E61B6F6B51E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16-03-2026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BEFC8083-65C1-9EC0-077C-893912995B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D09ACB56-0D0F-B0E1-DFDA-06DD2EA133A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2177381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d slide venstrestillet overskri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D943BCA5-A9D1-3C4A-B419-FA4758A25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1260000"/>
            <a:ext cx="396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>
                <a:solidFill>
                  <a:srgbClr val="34343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9" name="Pladsholder til tekst 3">
            <a:extLst>
              <a:ext uri="{FF2B5EF4-FFF2-40B4-BE49-F238E27FC236}">
                <a16:creationId xmlns:a16="http://schemas.microsoft.com/office/drawing/2014/main" id="{54EA145E-2D74-D94E-BB16-46323B3937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0001" y="1260000"/>
            <a:ext cx="5983600" cy="4561135"/>
          </a:xfrm>
        </p:spPr>
        <p:txBody>
          <a:bodyPr/>
          <a:lstStyle>
            <a:lvl1pPr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</a:defRPr>
            </a:lvl1pPr>
            <a:lvl2pPr marL="720000"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</a:defRPr>
            </a:lvl2pPr>
            <a:lvl3pPr marL="1080000">
              <a:spcBef>
                <a:spcPts val="600"/>
              </a:spcBef>
              <a:buClr>
                <a:schemeClr val="tx1"/>
              </a:buClr>
              <a:defRPr sz="1800">
                <a:solidFill>
                  <a:srgbClr val="343434"/>
                </a:solidFill>
              </a:defRPr>
            </a:lvl3pPr>
            <a:lvl5pPr marL="342900" indent="-3429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Pladsholder til dato 14">
            <a:extLst>
              <a:ext uri="{FF2B5EF4-FFF2-40B4-BE49-F238E27FC236}">
                <a16:creationId xmlns:a16="http://schemas.microsoft.com/office/drawing/2014/main" id="{7C5399E5-3534-91E8-9F8C-B0CC6D87E22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16-03-2026</a:t>
            </a:fld>
            <a:endParaRPr lang="da-DK"/>
          </a:p>
        </p:txBody>
      </p:sp>
      <p:sp>
        <p:nvSpPr>
          <p:cNvPr id="16" name="Pladsholder til sidefod 15">
            <a:extLst>
              <a:ext uri="{FF2B5EF4-FFF2-40B4-BE49-F238E27FC236}">
                <a16:creationId xmlns:a16="http://schemas.microsoft.com/office/drawing/2014/main" id="{962C43D6-61CF-D952-9CBC-6E9A7A5B10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7" name="Pladsholder til slidenummer 16">
            <a:extLst>
              <a:ext uri="{FF2B5EF4-FFF2-40B4-BE49-F238E27FC236}">
                <a16:creationId xmlns:a16="http://schemas.microsoft.com/office/drawing/2014/main" id="{95D5EE3D-13CA-2876-91CF-5247FED000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87760976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d slide venstrestillet overskrift /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D943BCA5-A9D1-3C4A-B419-FA4758A25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612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>
                <a:solidFill>
                  <a:srgbClr val="34343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9" name="Pladsholder til tekst 3">
            <a:extLst>
              <a:ext uri="{FF2B5EF4-FFF2-40B4-BE49-F238E27FC236}">
                <a16:creationId xmlns:a16="http://schemas.microsoft.com/office/drawing/2014/main" id="{54EA145E-2D74-D94E-BB16-46323B3937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9999" y="2160000"/>
            <a:ext cx="6120000" cy="3960000"/>
          </a:xfrm>
        </p:spPr>
        <p:txBody>
          <a:bodyPr/>
          <a:lstStyle>
            <a:lvl1pPr indent="-180000">
              <a:spcBef>
                <a:spcPts val="600"/>
              </a:spcBef>
              <a:buClrTx/>
              <a:defRPr>
                <a:solidFill>
                  <a:srgbClr val="343434"/>
                </a:solidFill>
              </a:defRPr>
            </a:lvl1pPr>
            <a:lvl2pPr marL="720000" indent="-180000">
              <a:spcBef>
                <a:spcPts val="600"/>
              </a:spcBef>
              <a:buClrTx/>
              <a:defRPr>
                <a:solidFill>
                  <a:srgbClr val="343434"/>
                </a:solidFill>
              </a:defRPr>
            </a:lvl2pPr>
            <a:lvl3pPr marL="1080000" indent="-180000">
              <a:spcBef>
                <a:spcPts val="600"/>
              </a:spcBef>
              <a:buClrTx/>
              <a:defRPr sz="1800">
                <a:solidFill>
                  <a:srgbClr val="343434"/>
                </a:solidFill>
              </a:defRPr>
            </a:lvl3pPr>
            <a:lvl5pPr marL="342900" indent="-3429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Pladsholder til dato 14">
            <a:extLst>
              <a:ext uri="{FF2B5EF4-FFF2-40B4-BE49-F238E27FC236}">
                <a16:creationId xmlns:a16="http://schemas.microsoft.com/office/drawing/2014/main" id="{7C5399E5-3534-91E8-9F8C-B0CC6D87E22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16-03-2026</a:t>
            </a:fld>
            <a:endParaRPr lang="da-DK"/>
          </a:p>
        </p:txBody>
      </p:sp>
      <p:sp>
        <p:nvSpPr>
          <p:cNvPr id="16" name="Pladsholder til sidefod 15">
            <a:extLst>
              <a:ext uri="{FF2B5EF4-FFF2-40B4-BE49-F238E27FC236}">
                <a16:creationId xmlns:a16="http://schemas.microsoft.com/office/drawing/2014/main" id="{962C43D6-61CF-D952-9CBC-6E9A7A5B10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7" name="Pladsholder til slidenummer 16">
            <a:extLst>
              <a:ext uri="{FF2B5EF4-FFF2-40B4-BE49-F238E27FC236}">
                <a16:creationId xmlns:a16="http://schemas.microsoft.com/office/drawing/2014/main" id="{95D5EE3D-13CA-2876-91CF-5247FED000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12228839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d side med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2FA9A78B-F9F6-E5B5-54E3-EE9FF1623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16-03-2026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75A12590-BDD9-733D-C482-5F7D499C5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FA4C063E-ABD6-B6BC-DE08-BDD646060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4B06BEC-9C28-1333-C662-F177D86F8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64" y="360000"/>
            <a:ext cx="10273673" cy="553998"/>
          </a:xfrm>
        </p:spPr>
        <p:txBody>
          <a:bodyPr/>
          <a:lstStyle>
            <a:lvl1pPr marL="0" indent="0" algn="ctr">
              <a:tabLst>
                <a:tab pos="4262438" algn="l"/>
              </a:tabLst>
              <a:defRPr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71954142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ide med billedbaggrund 3 bok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Pladsholder til billede 11">
            <a:extLst>
              <a:ext uri="{FF2B5EF4-FFF2-40B4-BE49-F238E27FC236}">
                <a16:creationId xmlns:a16="http://schemas.microsoft.com/office/drawing/2014/main" id="{3E8FA4C9-F9B2-4D3F-C3AA-19AE988B04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8896007-EFA9-FB1D-FC40-52612A5A455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2345" y="3959813"/>
            <a:ext cx="3600000" cy="2160000"/>
          </a:xfrm>
          <a:noFill/>
        </p:spPr>
        <p:txBody>
          <a:bodyPr lIns="108000" tIns="108000" rIns="108000" bIns="108000"/>
          <a:lstStyle>
            <a:lvl1pPr marL="0" indent="0" algn="ctr">
              <a:spcBef>
                <a:spcPts val="0"/>
              </a:spcBef>
              <a:spcAft>
                <a:spcPts val="600"/>
              </a:spcAft>
              <a:buFontTx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Bef>
                <a:spcPts val="200"/>
              </a:spcBef>
              <a:spcAft>
                <a:spcPts val="200"/>
              </a:spcAft>
              <a:buFontTx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Pladsholder til slidenummer 14">
            <a:extLst>
              <a:ext uri="{FF2B5EF4-FFF2-40B4-BE49-F238E27FC236}">
                <a16:creationId xmlns:a16="http://schemas.microsoft.com/office/drawing/2014/main" id="{B55FCD46-4218-A74F-8005-7EE6E99038A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13" name="Pladsholder til dato 12">
            <a:extLst>
              <a:ext uri="{FF2B5EF4-FFF2-40B4-BE49-F238E27FC236}">
                <a16:creationId xmlns:a16="http://schemas.microsoft.com/office/drawing/2014/main" id="{4C2F6B8E-60BF-6AD6-6314-812B1A40DA1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16-03-2026</a:t>
            </a:fld>
            <a:endParaRPr lang="da-DK"/>
          </a:p>
        </p:txBody>
      </p:sp>
      <p:sp>
        <p:nvSpPr>
          <p:cNvPr id="14" name="Pladsholder til sidefod 13">
            <a:extLst>
              <a:ext uri="{FF2B5EF4-FFF2-40B4-BE49-F238E27FC236}">
                <a16:creationId xmlns:a16="http://schemas.microsoft.com/office/drawing/2014/main" id="{5DF8C4B2-20B3-A074-8048-894F4A3EAE5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64E6E068-C30A-5ADC-3DE9-8633E2E0FF6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01682" y="3959813"/>
            <a:ext cx="3600000" cy="2160000"/>
          </a:xfrm>
        </p:spPr>
        <p:txBody>
          <a:bodyPr lIns="108000" tIns="108000" rIns="108000" bIns="10800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Bef>
                <a:spcPts val="200"/>
              </a:spcBef>
              <a:spcAft>
                <a:spcPts val="200"/>
              </a:spcAft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60000" indent="0">
              <a:buNone/>
              <a:defRPr sz="1600">
                <a:solidFill>
                  <a:schemeClr val="bg1"/>
                </a:solidFill>
              </a:defRPr>
            </a:lvl3pPr>
            <a:lvl4pPr marL="720000" indent="0">
              <a:buNone/>
              <a:defRPr sz="160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Pladsholder til indhold 9">
            <a:extLst>
              <a:ext uri="{FF2B5EF4-FFF2-40B4-BE49-F238E27FC236}">
                <a16:creationId xmlns:a16="http://schemas.microsoft.com/office/drawing/2014/main" id="{516B58FF-0AC7-55B2-5CCE-E114A490555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01019" y="3959813"/>
            <a:ext cx="3600000" cy="2160588"/>
          </a:xfrm>
        </p:spPr>
        <p:txBody>
          <a:bodyPr lIns="108000" tIns="108000" rIns="108000" bIns="10800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Bef>
                <a:spcPts val="200"/>
              </a:spcBef>
              <a:spcAft>
                <a:spcPts val="200"/>
              </a:spcAft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ED9C566-8AD1-2A40-D58B-568EE2103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07299985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ellemside dybblå">
    <p:bg>
      <p:bgPr>
        <a:solidFill>
          <a:srgbClr val="002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EDFBEEBD-1E10-C64A-9B2F-189B884F4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  <a:prstGeom prst="rect">
            <a:avLst/>
          </a:prstGeom>
        </p:spPr>
        <p:txBody>
          <a:bodyPr anchor="ctr" anchorCtr="0"/>
          <a:lstStyle>
            <a:lvl1pPr algn="ctr">
              <a:defRPr sz="36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4" name="Right Triangle 4">
            <a:extLst>
              <a:ext uri="{FF2B5EF4-FFF2-40B4-BE49-F238E27FC236}">
                <a16:creationId xmlns:a16="http://schemas.microsoft.com/office/drawing/2014/main" id="{D65F8924-1F04-8501-B37B-F146F46DDBC3}"/>
              </a:ext>
            </a:extLst>
          </p:cNvPr>
          <p:cNvSpPr/>
          <p:nvPr/>
        </p:nvSpPr>
        <p:spPr>
          <a:xfrm rot="16200000">
            <a:off x="2390148" y="2292681"/>
            <a:ext cx="6875719" cy="2290351"/>
          </a:xfrm>
          <a:prstGeom prst="rtTriangle">
            <a:avLst/>
          </a:prstGeom>
          <a:solidFill>
            <a:srgbClr val="F2F2F2">
              <a:alpha val="392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058457-07FF-3A96-E142-AEB81C550EDC}"/>
              </a:ext>
            </a:extLst>
          </p:cNvPr>
          <p:cNvSpPr/>
          <p:nvPr/>
        </p:nvSpPr>
        <p:spPr>
          <a:xfrm>
            <a:off x="6973184" y="17716"/>
            <a:ext cx="5218816" cy="6858000"/>
          </a:xfrm>
          <a:prstGeom prst="rect">
            <a:avLst/>
          </a:prstGeom>
          <a:solidFill>
            <a:srgbClr val="F2F2F2">
              <a:alpha val="392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6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7B8C6AC5-22C4-4C15-1D9D-01CB64A745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r="72325" b="-7017"/>
          <a:stretch/>
        </p:blipFill>
        <p:spPr>
          <a:xfrm>
            <a:off x="5710432" y="5417946"/>
            <a:ext cx="771134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074425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id side med blå 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6A3845F0-3DF9-4646-ABC5-AF439DC6FB63}"/>
              </a:ext>
            </a:extLst>
          </p:cNvPr>
          <p:cNvSpPr/>
          <p:nvPr/>
        </p:nvSpPr>
        <p:spPr>
          <a:xfrm>
            <a:off x="0" y="-12880"/>
            <a:ext cx="4133611" cy="6870879"/>
          </a:xfrm>
          <a:custGeom>
            <a:avLst/>
            <a:gdLst>
              <a:gd name="connsiteX0" fmla="*/ 0 w 3348000"/>
              <a:gd name="connsiteY0" fmla="*/ 0 h 6858000"/>
              <a:gd name="connsiteX1" fmla="*/ 3348000 w 3348000"/>
              <a:gd name="connsiteY1" fmla="*/ 0 h 6858000"/>
              <a:gd name="connsiteX2" fmla="*/ 3348000 w 3348000"/>
              <a:gd name="connsiteY2" fmla="*/ 6858000 h 6858000"/>
              <a:gd name="connsiteX3" fmla="*/ 0 w 3348000"/>
              <a:gd name="connsiteY3" fmla="*/ 6858000 h 6858000"/>
              <a:gd name="connsiteX4" fmla="*/ 0 w 3348000"/>
              <a:gd name="connsiteY4" fmla="*/ 0 h 6858000"/>
              <a:gd name="connsiteX0" fmla="*/ 0 w 4133611"/>
              <a:gd name="connsiteY0" fmla="*/ 12879 h 6870879"/>
              <a:gd name="connsiteX1" fmla="*/ 4133611 w 4133611"/>
              <a:gd name="connsiteY1" fmla="*/ 0 h 6870879"/>
              <a:gd name="connsiteX2" fmla="*/ 3348000 w 4133611"/>
              <a:gd name="connsiteY2" fmla="*/ 6870879 h 6870879"/>
              <a:gd name="connsiteX3" fmla="*/ 0 w 4133611"/>
              <a:gd name="connsiteY3" fmla="*/ 6870879 h 6870879"/>
              <a:gd name="connsiteX4" fmla="*/ 0 w 4133611"/>
              <a:gd name="connsiteY4" fmla="*/ 12879 h 6870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33611" h="6870879">
                <a:moveTo>
                  <a:pt x="0" y="12879"/>
                </a:moveTo>
                <a:lnTo>
                  <a:pt x="4133611" y="0"/>
                </a:lnTo>
                <a:lnTo>
                  <a:pt x="3348000" y="6870879"/>
                </a:lnTo>
                <a:lnTo>
                  <a:pt x="0" y="6870879"/>
                </a:lnTo>
                <a:lnTo>
                  <a:pt x="0" y="128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Pladsholder til tekst 3">
            <a:extLst>
              <a:ext uri="{FF2B5EF4-FFF2-40B4-BE49-F238E27FC236}">
                <a16:creationId xmlns:a16="http://schemas.microsoft.com/office/drawing/2014/main" id="{D7BD72E6-1F77-0F4F-99C7-CDE9FC9894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00001" y="1080000"/>
            <a:ext cx="6769014" cy="5025378"/>
          </a:xfrm>
        </p:spPr>
        <p:txBody>
          <a:bodyPr/>
          <a:lstStyle>
            <a:lvl1pPr>
              <a:spcBef>
                <a:spcPts val="600"/>
              </a:spcBef>
              <a:buClrTx/>
              <a:defRPr>
                <a:solidFill>
                  <a:schemeClr val="tx1">
                    <a:lumMod val="75000"/>
                  </a:schemeClr>
                </a:solidFill>
              </a:defRPr>
            </a:lvl1pPr>
            <a:lvl2pPr marL="720000">
              <a:spcBef>
                <a:spcPts val="600"/>
              </a:spcBef>
              <a:buClrTx/>
              <a:defRPr>
                <a:solidFill>
                  <a:schemeClr val="tx1">
                    <a:lumMod val="75000"/>
                  </a:schemeClr>
                </a:solidFill>
              </a:defRPr>
            </a:lvl2pPr>
            <a:lvl3pPr marL="1080000">
              <a:spcBef>
                <a:spcPts val="600"/>
              </a:spcBef>
              <a:buClrTx/>
              <a:defRPr sz="1800">
                <a:solidFill>
                  <a:schemeClr val="tx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5FAD132-7247-4943-8756-FB1B42F4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080000"/>
            <a:ext cx="2726099" cy="553998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3" name="Pladsholder til dato 12">
            <a:extLst>
              <a:ext uri="{FF2B5EF4-FFF2-40B4-BE49-F238E27FC236}">
                <a16:creationId xmlns:a16="http://schemas.microsoft.com/office/drawing/2014/main" id="{2697253C-4240-2DE5-241D-6F79B134E7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16-03-2026</a:t>
            </a:fld>
            <a:endParaRPr lang="da-DK"/>
          </a:p>
        </p:txBody>
      </p:sp>
      <p:sp>
        <p:nvSpPr>
          <p:cNvPr id="14" name="Pladsholder til sidefod 13">
            <a:extLst>
              <a:ext uri="{FF2B5EF4-FFF2-40B4-BE49-F238E27FC236}">
                <a16:creationId xmlns:a16="http://schemas.microsoft.com/office/drawing/2014/main" id="{E49A80E2-2179-9D0B-A180-333D185AA81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5" name="Pladsholder til slidenummer 14">
            <a:extLst>
              <a:ext uri="{FF2B5EF4-FFF2-40B4-BE49-F238E27FC236}">
                <a16:creationId xmlns:a16="http://schemas.microsoft.com/office/drawing/2014/main" id="{4E9D9BAC-00CB-CF90-33FE-4FD2AF14E52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95412661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akt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nuel indlæsning 1">
            <a:extLst>
              <a:ext uri="{FF2B5EF4-FFF2-40B4-BE49-F238E27FC236}">
                <a16:creationId xmlns:a16="http://schemas.microsoft.com/office/drawing/2014/main" id="{C1C202A1-E056-E2E0-858A-B11C91863D7D}"/>
              </a:ext>
            </a:extLst>
          </p:cNvPr>
          <p:cNvSpPr>
            <a:spLocks noChangeAspect="1"/>
          </p:cNvSpPr>
          <p:nvPr/>
        </p:nvSpPr>
        <p:spPr>
          <a:xfrm flipH="1">
            <a:off x="0" y="2708113"/>
            <a:ext cx="12192000" cy="4149887"/>
          </a:xfrm>
          <a:prstGeom prst="flowChartManualInpu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EDFBEEBD-1E10-C64A-9B2F-189B884F4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999" y="1800000"/>
            <a:ext cx="7920000" cy="553998"/>
          </a:xfrm>
          <a:prstGeom prst="rect">
            <a:avLst/>
          </a:prstGeom>
        </p:spPr>
        <p:txBody>
          <a:bodyPr/>
          <a:lstStyle>
            <a:lvl1pPr>
              <a:defRPr sz="360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/>
          </a:p>
        </p:txBody>
      </p:sp>
      <p:sp>
        <p:nvSpPr>
          <p:cNvPr id="9" name="Pladsholder til tekst 3">
            <a:extLst>
              <a:ext uri="{FF2B5EF4-FFF2-40B4-BE49-F238E27FC236}">
                <a16:creationId xmlns:a16="http://schemas.microsoft.com/office/drawing/2014/main" id="{63282B2D-EDC0-1744-AB89-A09556139B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38276" y="4043190"/>
            <a:ext cx="3744000" cy="1756811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358775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71755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Skriv navn og kontaktoplysninger</a:t>
            </a:r>
          </a:p>
        </p:txBody>
      </p:sp>
      <p:sp>
        <p:nvSpPr>
          <p:cNvPr id="11" name="Pladsholder til tekst 3">
            <a:extLst>
              <a:ext uri="{FF2B5EF4-FFF2-40B4-BE49-F238E27FC236}">
                <a16:creationId xmlns:a16="http://schemas.microsoft.com/office/drawing/2014/main" id="{D9306688-7C4E-E347-974F-A4462CC48B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51684" y="4043189"/>
            <a:ext cx="3744000" cy="1756811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358775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71755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Skriv navn og kontaktoplysninger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B549FDC7-8610-6A85-1CD7-C0A6A4218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2001" y="6120429"/>
            <a:ext cx="2160000" cy="43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633920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side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3384E7-0AB4-7441-B5F9-96ACF387B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D08CDF3-E58D-014E-8ADC-07E0E0415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E16925C-47A6-AB40-8A37-5DFAE88A1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16-03-2026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C6636263-FC36-D172-003C-58D9BBADF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047C7184-ABEE-196E-E69C-81378FA55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263601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m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3">
            <a:extLst>
              <a:ext uri="{FF2B5EF4-FFF2-40B4-BE49-F238E27FC236}">
                <a16:creationId xmlns:a16="http://schemas.microsoft.com/office/drawing/2014/main" id="{071DDF98-399A-73C1-6A76-0D87F5D233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0000" y="6356349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79869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6570FE-B5FB-B343-9266-1BC06216A43C}" type="datetime1">
              <a:rPr lang="da-DK" smtClean="0"/>
              <a:t>16-03-2026</a:t>
            </a:fld>
            <a:endParaRPr lang="da-DK"/>
          </a:p>
        </p:txBody>
      </p:sp>
      <p:sp>
        <p:nvSpPr>
          <p:cNvPr id="3" name="Pladsholder til slidenummer 5">
            <a:extLst>
              <a:ext uri="{FF2B5EF4-FFF2-40B4-BE49-F238E27FC236}">
                <a16:creationId xmlns:a16="http://schemas.microsoft.com/office/drawing/2014/main" id="{06F05687-C8C9-2987-EB9A-C509041A4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8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rgbClr val="79869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4" name="Pladsholder til sidefod 6">
            <a:extLst>
              <a:ext uri="{FF2B5EF4-FFF2-40B4-BE49-F238E27FC236}">
                <a16:creationId xmlns:a16="http://schemas.microsoft.com/office/drawing/2014/main" id="{CECDAB00-7182-687F-414F-D6394BD24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79869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/>
              <a:t>cybersikker.alexandra.dk</a:t>
            </a:r>
          </a:p>
        </p:txBody>
      </p:sp>
    </p:spTree>
    <p:extLst>
      <p:ext uri="{BB962C8B-B14F-4D97-AF65-F5344CB8AC3E}">
        <p14:creationId xmlns:p14="http://schemas.microsoft.com/office/powerpoint/2010/main" val="33084259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kontakt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ato 3">
            <a:extLst>
              <a:ext uri="{FF2B5EF4-FFF2-40B4-BE49-F238E27FC236}">
                <a16:creationId xmlns:a16="http://schemas.microsoft.com/office/drawing/2014/main" id="{84700FE0-3C32-8F5C-A9D6-F84B59ADDA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0000" y="6356349"/>
            <a:ext cx="2743200" cy="365125"/>
          </a:xfrm>
        </p:spPr>
        <p:txBody>
          <a:bodyPr/>
          <a:lstStyle/>
          <a:p>
            <a:fld id="{2EE2683A-6B2B-964B-B78D-BF9CF3DA3F7B}" type="datetime1">
              <a:rPr lang="da-DK" smtClean="0"/>
              <a:t>16-03-2026</a:t>
            </a:fld>
            <a:endParaRPr lang="da-DK"/>
          </a:p>
        </p:txBody>
      </p:sp>
      <p:sp>
        <p:nvSpPr>
          <p:cNvPr id="6" name="Pladsholder til sidefod 7">
            <a:extLst>
              <a:ext uri="{FF2B5EF4-FFF2-40B4-BE49-F238E27FC236}">
                <a16:creationId xmlns:a16="http://schemas.microsoft.com/office/drawing/2014/main" id="{59524C84-CFEB-9940-04C5-D411D7EFF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7" name="Pladsholder til slidenummer 8">
            <a:extLst>
              <a:ext uri="{FF2B5EF4-FFF2-40B4-BE49-F238E27FC236}">
                <a16:creationId xmlns:a16="http://schemas.microsoft.com/office/drawing/2014/main" id="{1CF4CAFC-21EA-E01D-3132-21873B0A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815" y="6356350"/>
            <a:ext cx="2743200" cy="365125"/>
          </a:xfrm>
        </p:spPr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2" name="Dokument 1">
            <a:extLst>
              <a:ext uri="{FF2B5EF4-FFF2-40B4-BE49-F238E27FC236}">
                <a16:creationId xmlns:a16="http://schemas.microsoft.com/office/drawing/2014/main" id="{C5BA8FC3-060D-F0A5-8322-9D30A0E1929B}"/>
              </a:ext>
            </a:extLst>
          </p:cNvPr>
          <p:cNvSpPr/>
          <p:nvPr userDrawn="1"/>
        </p:nvSpPr>
        <p:spPr>
          <a:xfrm rot="10800000" flipH="1">
            <a:off x="0" y="4067175"/>
            <a:ext cx="12191999" cy="2790825"/>
          </a:xfrm>
          <a:prstGeom prst="flowChartDocument">
            <a:avLst/>
          </a:prstGeom>
          <a:solidFill>
            <a:srgbClr val="0038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3F58C07F-51C5-9418-EE26-0A4AF7500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0000" y="2506824"/>
            <a:ext cx="2283038" cy="941136"/>
          </a:xfrm>
        </p:spPr>
        <p:txBody>
          <a:bodyPr/>
          <a:lstStyle>
            <a:lvl1pPr>
              <a:defRPr>
                <a:solidFill>
                  <a:srgbClr val="003843"/>
                </a:solidFill>
              </a:defRPr>
            </a:lvl1pPr>
          </a:lstStyle>
          <a:p>
            <a:r>
              <a:rPr lang="da-DK"/>
              <a:t>Kontakt</a:t>
            </a:r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526AB892-77E9-213C-01EC-851AF1906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600" y="2622287"/>
            <a:ext cx="3124200" cy="14935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B323A5C4-9B4E-1258-C4C2-C5DB2E0EA4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6344053"/>
            <a:ext cx="2808000" cy="241041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D671E023-46C6-ED0A-AB96-BDE486EB9333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249" y="3048642"/>
            <a:ext cx="1926327" cy="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963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000" y="1620000"/>
            <a:ext cx="10439999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a-DK" noProof="0"/>
              <a:t>Klik for at redigere</a:t>
            </a:r>
          </a:p>
          <a:p>
            <a:pPr lvl="2"/>
            <a:r>
              <a:rPr lang="da-DK" noProof="0"/>
              <a:t>Andet niveau</a:t>
            </a:r>
          </a:p>
          <a:p>
            <a:pPr lvl="3"/>
            <a:r>
              <a:rPr lang="da-DK" noProof="0"/>
              <a:t>Tredje niveau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BB6D30-42BF-CA45-976E-18C42243C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9" y="540000"/>
            <a:ext cx="1044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da-DK"/>
          </a:p>
        </p:txBody>
      </p:sp>
      <p:sp>
        <p:nvSpPr>
          <p:cNvPr id="5" name="Pladsholder til dato 33">
            <a:extLst>
              <a:ext uri="{FF2B5EF4-FFF2-40B4-BE49-F238E27FC236}">
                <a16:creationId xmlns:a16="http://schemas.microsoft.com/office/drawing/2014/main" id="{52560EC3-C564-7D2C-3E25-B5570F0A3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51466" y="6557851"/>
            <a:ext cx="2889068" cy="182562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966570FE-B5FB-B343-9266-1BC06216A43C}" type="datetime1">
              <a:rPr lang="da-DK" smtClean="0"/>
              <a:t>16-03-2026</a:t>
            </a:fld>
            <a:endParaRPr lang="da-DK"/>
          </a:p>
        </p:txBody>
      </p:sp>
      <p:sp>
        <p:nvSpPr>
          <p:cNvPr id="9" name="Pladsholder til sidefod 34">
            <a:extLst>
              <a:ext uri="{FF2B5EF4-FFF2-40B4-BE49-F238E27FC236}">
                <a16:creationId xmlns:a16="http://schemas.microsoft.com/office/drawing/2014/main" id="{93A74E4A-F71B-4F89-2B52-996CFE61B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345" y="6557851"/>
            <a:ext cx="3138687" cy="182562"/>
          </a:xfrm>
          <a:prstGeom prst="rect">
            <a:avLst/>
          </a:prstGeom>
        </p:spPr>
        <p:txBody>
          <a:bodyPr/>
          <a:lstStyle>
            <a:lvl1pPr algn="l">
              <a:defRPr sz="800" cap="all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a-DK"/>
              <a:t>cybersikker.alexandra.dk</a:t>
            </a:r>
          </a:p>
        </p:txBody>
      </p:sp>
      <p:sp>
        <p:nvSpPr>
          <p:cNvPr id="10" name="Pladsholder til slidenummer 35">
            <a:extLst>
              <a:ext uri="{FF2B5EF4-FFF2-40B4-BE49-F238E27FC236}">
                <a16:creationId xmlns:a16="http://schemas.microsoft.com/office/drawing/2014/main" id="{3813305E-16A2-1B20-40D8-1AC807D54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5251" y="6567126"/>
            <a:ext cx="1944404" cy="215444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06783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4" r:id="rId18"/>
    <p:sldLayoutId id="2147483653" r:id="rId19"/>
    <p:sldLayoutId id="2147483660" r:id="rId20"/>
  </p:sldLayoutIdLst>
  <p:hf hdr="0"/>
  <p:txStyles>
    <p:titleStyle>
      <a:lvl1pPr marL="0" algn="l" defTabSz="457200" rtl="0" eaLnBrk="1" latinLnBrk="0" hangingPunct="1">
        <a:lnSpc>
          <a:spcPct val="100000"/>
        </a:lnSpc>
        <a:spcBef>
          <a:spcPct val="0"/>
        </a:spcBef>
        <a:buNone/>
        <a:defRPr lang="en-US" sz="3600" b="0" i="0" kern="1200" cap="none" baseline="0" dirty="0">
          <a:solidFill>
            <a:srgbClr val="343434"/>
          </a:solidFill>
          <a:latin typeface="Arial" panose="020B0604020202020204" pitchFamily="34" charset="0"/>
          <a:ea typeface="Verdana" panose="020B0604030504040204" pitchFamily="34" charset="0"/>
          <a:cs typeface="Arial" panose="020B0604020202020204" pitchFamily="34" charset="0"/>
        </a:defRPr>
      </a:lvl1pPr>
    </p:titleStyle>
    <p:bodyStyle>
      <a:lvl1pPr marL="360000" indent="-360000" algn="l" defTabSz="457200" rtl="0" eaLnBrk="1" latinLnBrk="0" hangingPunct="1">
        <a:lnSpc>
          <a:spcPct val="114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defRPr sz="2400" kern="1200">
          <a:solidFill>
            <a:srgbClr val="343434"/>
          </a:solidFill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1pPr>
      <a:lvl2pPr marL="327538" indent="-360000" algn="l" defTabSz="457200" rtl="0" eaLnBrk="1" latinLnBrk="0" hangingPunct="1">
        <a:lnSpc>
          <a:spcPct val="114000"/>
        </a:lnSpc>
        <a:spcBef>
          <a:spcPts val="1176"/>
        </a:spcBef>
        <a:buClr>
          <a:srgbClr val="D76432"/>
        </a:buClr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720000" indent="-360000" algn="l" defTabSz="457200" rtl="0" eaLnBrk="1" latinLnBrk="0" hangingPunct="1">
        <a:lnSpc>
          <a:spcPct val="114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tabLst/>
        <a:defRPr sz="2000" kern="1200">
          <a:solidFill>
            <a:srgbClr val="343434"/>
          </a:solidFill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3pPr>
      <a:lvl4pPr marL="1080000" indent="-360000" algn="l" defTabSz="457200" rtl="0" eaLnBrk="1" latinLnBrk="0" hangingPunct="1">
        <a:lnSpc>
          <a:spcPct val="114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tabLst/>
        <a:defRPr sz="1800" kern="1200">
          <a:solidFill>
            <a:srgbClr val="343434"/>
          </a:solidFill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4pPr>
      <a:lvl5pPr marL="0" indent="0" algn="l" defTabSz="457200" rtl="0" eaLnBrk="1" latinLnBrk="0" hangingPunct="1">
        <a:lnSpc>
          <a:spcPct val="114000"/>
        </a:lnSpc>
        <a:spcBef>
          <a:spcPct val="20000"/>
        </a:spcBef>
        <a:buClr>
          <a:srgbClr val="D76432"/>
        </a:buClr>
        <a:buFont typeface="Arial" panose="020B0604020202020204" pitchFamily="34" charset="0"/>
        <a:buNone/>
        <a:tabLst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lexandrainst/IU-kursus/tree/main/Kursus-3" TargetMode="Externa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lexandrainst/IU-kursus/tree/main/Kursus-3" TargetMode="External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lexandrainst/IU-kursus/tree/main/Kursus-3" TargetMode="Externa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E935C-07D1-11DA-414F-DED193F28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36B0B-49EF-0BDB-7FE9-6C939B031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2598004"/>
            <a:ext cx="9594585" cy="1661993"/>
          </a:xfrm>
        </p:spPr>
        <p:txBody>
          <a:bodyPr/>
          <a:lstStyle/>
          <a:p>
            <a:r>
              <a:rPr lang="da-DK" noProof="0" dirty="0"/>
              <a:t>Dag I: </a:t>
            </a:r>
            <a:br>
              <a:rPr lang="da-DK" noProof="0" dirty="0"/>
            </a:br>
            <a:r>
              <a:rPr lang="da-DK" noProof="0" dirty="0"/>
              <a:t>Netværk og endpoint sikkerhed i EUD Cyber Environment</a:t>
            </a:r>
          </a:p>
        </p:txBody>
      </p:sp>
    </p:spTree>
    <p:extLst>
      <p:ext uri="{BB962C8B-B14F-4D97-AF65-F5344CB8AC3E}">
        <p14:creationId xmlns:p14="http://schemas.microsoft.com/office/powerpoint/2010/main" val="15117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E2599EFF-37C3-7C82-B8C4-D2A4E9350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8" y="390038"/>
            <a:ext cx="10584015" cy="553998"/>
          </a:xfrm>
        </p:spPr>
        <p:txBody>
          <a:bodyPr/>
          <a:lstStyle/>
          <a:p>
            <a:r>
              <a:rPr lang="da-DK" noProof="0" dirty="0">
                <a:latin typeface="Arial"/>
                <a:cs typeface="Arial"/>
              </a:rPr>
              <a:t>Agenda: Dag 1</a:t>
            </a:r>
            <a:endParaRPr lang="da-DK" noProof="0" dirty="0"/>
          </a:p>
        </p:txBody>
      </p:sp>
      <p:graphicFrame>
        <p:nvGraphicFramePr>
          <p:cNvPr id="12" name="Pladsholder til indhold 11">
            <a:extLst>
              <a:ext uri="{FF2B5EF4-FFF2-40B4-BE49-F238E27FC236}">
                <a16:creationId xmlns:a16="http://schemas.microsoft.com/office/drawing/2014/main" id="{5BD0F255-369E-C4EE-BA89-832751DDE2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4667883"/>
              </p:ext>
            </p:extLst>
          </p:nvPr>
        </p:nvGraphicFramePr>
        <p:xfrm>
          <a:off x="1245463" y="1025517"/>
          <a:ext cx="10238550" cy="5318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5249">
                  <a:extLst>
                    <a:ext uri="{9D8B030D-6E8A-4147-A177-3AD203B41FA5}">
                      <a16:colId xmlns:a16="http://schemas.microsoft.com/office/drawing/2014/main" val="3568212222"/>
                    </a:ext>
                  </a:extLst>
                </a:gridCol>
                <a:gridCol w="5675232">
                  <a:extLst>
                    <a:ext uri="{9D8B030D-6E8A-4147-A177-3AD203B41FA5}">
                      <a16:colId xmlns:a16="http://schemas.microsoft.com/office/drawing/2014/main" val="3991436401"/>
                    </a:ext>
                  </a:extLst>
                </a:gridCol>
                <a:gridCol w="2788069">
                  <a:extLst>
                    <a:ext uri="{9D8B030D-6E8A-4147-A177-3AD203B41FA5}">
                      <a16:colId xmlns:a16="http://schemas.microsoft.com/office/drawing/2014/main" val="3648554971"/>
                    </a:ext>
                  </a:extLst>
                </a:gridCol>
              </a:tblGrid>
              <a:tr h="366284">
                <a:tc>
                  <a:txBody>
                    <a:bodyPr/>
                    <a:lstStyle/>
                    <a:p>
                      <a:r>
                        <a:rPr lang="da-DK" sz="1400" noProof="0" dirty="0"/>
                        <a:t>Tidspunkt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noProof="0" dirty="0"/>
                        <a:t>Emne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noProof="0" dirty="0"/>
                        <a:t>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083505"/>
                  </a:ext>
                </a:extLst>
              </a:tr>
              <a:tr h="372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sz="1400" noProof="0" dirty="0"/>
                        <a:t>9.00-9.10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sz="1400" noProof="0" dirty="0"/>
                        <a:t>Plan for kursus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noProof="0" dirty="0"/>
                        <a:t>Oplæg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721731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sz="1400" noProof="0" dirty="0"/>
                        <a:t>9.10-9.30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sz="1400" noProof="0" dirty="0"/>
                        <a:t>Introduktion til EUD Cyber 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noProof="0" dirty="0"/>
                        <a:t>Oplæg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949661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sz="1400" noProof="0" dirty="0"/>
                        <a:t>9.30-10.20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noProof="0" dirty="0"/>
                        <a:t>EUD Cyber environment- Hands on (Opgave 0)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noProof="0" dirty="0"/>
                        <a:t>Logge på systemerne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noProof="0" dirty="0"/>
                        <a:t>Skabe hændelser og finde dem i relevante logfiler (lokalt)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noProof="0" dirty="0"/>
                        <a:t>Oplæg, øvelse + plenum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376553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sz="1400" noProof="0" dirty="0"/>
                        <a:t>10.20-10.30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sz="1400" noProof="0" dirty="0"/>
                        <a:t>Pause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898247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noProof="0" dirty="0"/>
                        <a:t>10.30-12.00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sz="1400" noProof="0" dirty="0"/>
                        <a:t>SIEM og centraliseret logging: Wazuh</a:t>
                      </a:r>
                    </a:p>
                    <a:p>
                      <a:pPr marL="457200" marR="0" lvl="1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sz="1100" noProof="0" dirty="0"/>
                        <a:t>Konfigurere Wazuh og installere agenter</a:t>
                      </a:r>
                    </a:p>
                    <a:p>
                      <a:pPr marL="457200" marR="0" lvl="1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sz="1100" noProof="0" dirty="0"/>
                        <a:t>Skabe hændelse og overvåge dem centralt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noProof="0" dirty="0"/>
                        <a:t>Oplæg, øvelse + plenum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642171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noProof="0" dirty="0"/>
                        <a:t>12.00-12.45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noProof="0" dirty="0"/>
                        <a:t>Frokost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760828"/>
                  </a:ext>
                </a:extLst>
              </a:tr>
              <a:tr h="38656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noProof="0" dirty="0"/>
                        <a:t>12.45-14.15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noProof="0" dirty="0"/>
                        <a:t>IDS/IPS: Opnsense (og integration med Wazuh)</a:t>
                      </a:r>
                    </a:p>
                    <a:p>
                      <a:pPr marL="45720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noProof="0" dirty="0"/>
                        <a:t>Konfigurere IDS og IPS i Opnsense</a:t>
                      </a:r>
                    </a:p>
                    <a:p>
                      <a:pPr marL="45720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noProof="0" dirty="0"/>
                        <a:t>Observere alarmer og blokeringer i praksis</a:t>
                      </a:r>
                    </a:p>
                    <a:p>
                      <a:pPr marL="45720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noProof="0" dirty="0"/>
                        <a:t>Integrere Opnsense med Wazuh</a:t>
                      </a:r>
                      <a:endParaRPr lang="da-DK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noProof="0" dirty="0"/>
                        <a:t>Oplæg, øvelse + plenum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0355"/>
                  </a:ext>
                </a:extLst>
              </a:tr>
              <a:tr h="38656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a-DK" sz="1400" noProof="0" dirty="0"/>
                        <a:t>14.15-14.30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noProof="0" dirty="0"/>
                        <a:t>Pause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353634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sz="1400" noProof="0" dirty="0"/>
                        <a:t>14.30-16.00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sz="1400" noProof="0" dirty="0"/>
                        <a:t>Authentication, Authorization and Accounting: RADIUS</a:t>
                      </a:r>
                    </a:p>
                    <a:p>
                      <a:pPr marL="457200" marR="0" lvl="1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sz="1100" noProof="0" dirty="0"/>
                        <a:t>Konfigurere central authentication på en RADIUS server</a:t>
                      </a:r>
                    </a:p>
                    <a:p>
                      <a:pPr marL="457200" marR="0" lvl="1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sz="1100" noProof="0" dirty="0"/>
                        <a:t>Konfigurere Opnsense til at anvende RADIUS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noProof="0" dirty="0"/>
                        <a:t>Oplæg, øvelse + plenum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879610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noProof="0" dirty="0"/>
                        <a:t>16.00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sz="1400" noProof="0" dirty="0"/>
                        <a:t>Slut for i 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767376"/>
                  </a:ext>
                </a:extLst>
              </a:tr>
            </a:tbl>
          </a:graphicData>
        </a:graphic>
      </p:graphicFrame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61CE921-9197-CCFC-0DB9-5C6A4C98B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7D938-B50E-D842-AEDC-C3B711F6BEE0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C3D70BA-3FA5-6FD7-2E8F-8BE12F3C0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102F5C7-E84E-991D-01D3-1EDD9727D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2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3010353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9A794-FFE0-C860-278E-0BF01E8CB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Kursus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D71B8-6380-BEA3-45E6-F2EF1D7D2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noProof="0" dirty="0"/>
              <a:t>Overordnet plan:</a:t>
            </a:r>
          </a:p>
          <a:p>
            <a:pPr lvl="2"/>
            <a:r>
              <a:rPr lang="da-DK" noProof="0"/>
              <a:t>Arbejdsgruppen </a:t>
            </a:r>
            <a:r>
              <a:rPr lang="da-DK" noProof="0" dirty="0"/>
              <a:t>har lavet et Proxmox setup vi kan bruge til øvelser</a:t>
            </a:r>
          </a:p>
          <a:p>
            <a:pPr lvl="3"/>
            <a:r>
              <a:rPr lang="da-DK" noProof="0" dirty="0"/>
              <a:t>+ har lavet et bud på en plan for undervisningen – Vi genbesøger på onsdag</a:t>
            </a:r>
          </a:p>
          <a:p>
            <a:pPr lvl="2"/>
            <a:endParaRPr lang="da-DK" noProof="0" dirty="0"/>
          </a:p>
          <a:p>
            <a:pPr lvl="2"/>
            <a:r>
              <a:rPr lang="da-DK" noProof="0" dirty="0"/>
              <a:t>Generelt: Vi fortæller lidt, I får tid til at prøve øvelserne I labbet, vi laver en fælles opsamling</a:t>
            </a:r>
          </a:p>
          <a:p>
            <a:pPr lvl="3"/>
            <a:r>
              <a:rPr lang="da-DK" noProof="0" dirty="0"/>
              <a:t>Overodnede formål er at I får prøvet testlabbet I praksis og ser hvordan øvelserne kan fungere.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99AA9-DCB8-4DB5-4C8C-50A79BC7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6D5A0-DF38-E120-0BA1-B78FFE1FE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3BA44-9F7E-3E40-11A5-F11AEACD5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3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3543825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34C85-ECB3-FF3C-B369-94BF10463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6DE10-425C-0492-6234-FC7B0E37C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Undervisningsplan H4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47F5F-01B0-A2C0-C700-744FF6902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800" dirty="0"/>
              <a:t>3 temaer á 3 uger (dybde i ét fag ad gangen) i rækkefølgen: </a:t>
            </a:r>
          </a:p>
          <a:p>
            <a:pPr lvl="2"/>
            <a:r>
              <a:rPr lang="da-DK" sz="1400" dirty="0"/>
              <a:t>Network Security (uge 1–3) </a:t>
            </a:r>
          </a:p>
          <a:p>
            <a:pPr lvl="2"/>
            <a:r>
              <a:rPr lang="da-DK" sz="1400" dirty="0"/>
              <a:t>Application Security (uge 4–6) </a:t>
            </a:r>
          </a:p>
          <a:p>
            <a:pPr lvl="2"/>
            <a:r>
              <a:rPr lang="da-DK" sz="1400" dirty="0"/>
              <a:t>Endpoint Security (uge 7–9) </a:t>
            </a:r>
          </a:p>
          <a:p>
            <a:endParaRPr lang="da-DK" sz="1800" dirty="0"/>
          </a:p>
          <a:p>
            <a:r>
              <a:rPr lang="da-DK" sz="1800" dirty="0"/>
              <a:t>3 tværgående fag hele perioden:  </a:t>
            </a:r>
          </a:p>
          <a:p>
            <a:pPr lvl="2"/>
            <a:r>
              <a:rPr lang="da-DK" sz="1400" dirty="0"/>
              <a:t>Data Security  </a:t>
            </a:r>
          </a:p>
          <a:p>
            <a:pPr lvl="2"/>
            <a:r>
              <a:rPr lang="da-DK" sz="1400" dirty="0"/>
              <a:t>Informations- og cybersikkerhed  </a:t>
            </a:r>
          </a:p>
          <a:p>
            <a:pPr lvl="2"/>
            <a:r>
              <a:rPr lang="da-DK" sz="1400" dirty="0"/>
              <a:t>Detektion og respons </a:t>
            </a:r>
          </a:p>
          <a:p>
            <a:endParaRPr lang="da-DK" sz="1800" dirty="0"/>
          </a:p>
          <a:p>
            <a:r>
              <a:rPr lang="da-DK" sz="1800" dirty="0"/>
              <a:t>Idé til rød tråd: </a:t>
            </a:r>
          </a:p>
          <a:p>
            <a:pPr lvl="2"/>
            <a:r>
              <a:rPr lang="da-DK" sz="1400" dirty="0"/>
              <a:t>Design → Implementér → Overvåg → Test → Forbedr → Dokumentér i en samlet Security Portfolio. </a:t>
            </a:r>
          </a:p>
          <a:p>
            <a:endParaRPr lang="da-DK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33551-F05A-9052-6B80-B5BE08517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04FA9-2990-467B-A142-29E1AAEE1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804F3-B8C7-F103-75D6-FF2C64CEF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4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328352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E6C72-995A-1A23-4F00-E07998ADA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CE5CE-D4AD-6E34-5A07-173BA7AE5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Emner for de gennemgående fag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85A8A-7DBD-C36B-AFDA-2C96F5621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800" dirty="0"/>
              <a:t>Detektion og respons </a:t>
            </a:r>
          </a:p>
          <a:p>
            <a:pPr lvl="2"/>
            <a:r>
              <a:rPr lang="da-DK" sz="1400" dirty="0"/>
              <a:t>Logs til Kali </a:t>
            </a:r>
          </a:p>
          <a:p>
            <a:pPr lvl="2"/>
            <a:r>
              <a:rPr lang="da-DK" sz="1400" dirty="0"/>
              <a:t>IDS logs til Wazuh </a:t>
            </a:r>
          </a:p>
          <a:p>
            <a:pPr lvl="2"/>
            <a:r>
              <a:rPr lang="da-DK" sz="1400" dirty="0"/>
              <a:t>Wazuh agent </a:t>
            </a:r>
          </a:p>
          <a:p>
            <a:pPr lvl="2"/>
            <a:endParaRPr lang="da-DK" sz="1400" dirty="0"/>
          </a:p>
          <a:p>
            <a:r>
              <a:rPr lang="da-DK" sz="1800" dirty="0"/>
              <a:t> Informations- og cybersikkerhed  </a:t>
            </a:r>
          </a:p>
          <a:p>
            <a:pPr lvl="2"/>
            <a:r>
              <a:rPr lang="da-DK" sz="1400" dirty="0"/>
              <a:t>GDPR/ISO </a:t>
            </a:r>
          </a:p>
          <a:p>
            <a:pPr lvl="2"/>
            <a:r>
              <a:rPr lang="da-DK" sz="1400" dirty="0"/>
              <a:t>Killchain/Mitre </a:t>
            </a:r>
          </a:p>
          <a:p>
            <a:pPr lvl="2"/>
            <a:r>
              <a:rPr lang="da-DK" sz="1400" dirty="0"/>
              <a:t>Plan-Do-Check-Act </a:t>
            </a:r>
          </a:p>
          <a:p>
            <a:pPr lvl="2"/>
            <a:endParaRPr lang="da-DK" sz="1400" dirty="0"/>
          </a:p>
          <a:p>
            <a:r>
              <a:rPr lang="da-DK" sz="1800" dirty="0"/>
              <a:t>Data security</a:t>
            </a:r>
            <a:endParaRPr lang="da-DK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3EBB8-4F7E-8705-7203-7C7E6475C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6C8A2-A95A-4C7F-1476-511AAB8C5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2F0EA-5747-CBE2-1630-164B8DA7B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5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978129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DF602-046D-9E2F-01E7-4776D48E6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ABFFA-BE8F-323E-3C91-BB7913BEE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Dagens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62A68-155C-5F7D-38A1-6FF9A19B1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noProof="0" dirty="0"/>
              <a:t>Endpoint security og network security</a:t>
            </a:r>
          </a:p>
          <a:p>
            <a:pPr lvl="2"/>
            <a:r>
              <a:rPr lang="da-DK" noProof="0" dirty="0"/>
              <a:t>En del gentagelse fra sidst – men med øvelser der gør det mere konkret</a:t>
            </a:r>
          </a:p>
          <a:p>
            <a:r>
              <a:rPr lang="da-DK" noProof="0" dirty="0"/>
              <a:t>Overordnet fokus på Detect-Response / SIEM </a:t>
            </a:r>
          </a:p>
          <a:p>
            <a:pPr lvl="2"/>
            <a:r>
              <a:rPr lang="da-DK" noProof="0" dirty="0"/>
              <a:t>Ting skal bindes sammen i Wazuh</a:t>
            </a:r>
          </a:p>
          <a:p>
            <a:pPr lvl="2"/>
            <a:endParaRPr lang="da-DK" noProof="0" dirty="0"/>
          </a:p>
          <a:p>
            <a:r>
              <a:rPr lang="da-DK" noProof="0" dirty="0"/>
              <a:t>Blive bekendt med miljøet:</a:t>
            </a:r>
          </a:p>
          <a:p>
            <a:pPr lvl="2"/>
            <a:r>
              <a:rPr lang="da-DK" noProof="0" dirty="0"/>
              <a:t>Simple opgaver der introducerer systemet og lokale log events.</a:t>
            </a:r>
          </a:p>
          <a:p>
            <a:pPr lvl="2"/>
            <a:r>
              <a:rPr lang="da-DK" noProof="0" dirty="0"/>
              <a:t>Centraliseret logning med Wazuh</a:t>
            </a:r>
          </a:p>
          <a:p>
            <a:pPr lvl="2"/>
            <a:r>
              <a:rPr lang="da-DK" noProof="0" dirty="0"/>
              <a:t>IDS/IPS </a:t>
            </a:r>
          </a:p>
          <a:p>
            <a:pPr lvl="2"/>
            <a:r>
              <a:rPr lang="da-DK" noProof="0" dirty="0"/>
              <a:t>AAA / RADIUS</a:t>
            </a:r>
          </a:p>
          <a:p>
            <a:endParaRPr lang="da-DK" noProof="0" dirty="0"/>
          </a:p>
          <a:p>
            <a:endParaRPr lang="da-DK" noProof="0" dirty="0"/>
          </a:p>
          <a:p>
            <a:endParaRPr lang="da-DK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F5506-37FE-DB52-E18E-66E42A32F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C0ABE-876E-72CF-D3A9-D8578043A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249FC-C2C9-81DE-A86B-F790D8C76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6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1112282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D30E1-5FB5-6EB9-803A-1BFA355D3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9210E-4EE2-D592-344B-87D065036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Øvelserne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29B53-74FB-1B8F-95EA-A54C8CEBF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noProof="0" dirty="0"/>
              <a:t>Arbejdsgruppen har lavet en stribe øvelser vi tager udgangspunkt i</a:t>
            </a:r>
          </a:p>
          <a:p>
            <a:pPr lvl="2"/>
            <a:r>
              <a:rPr lang="da-DK" noProof="0" dirty="0"/>
              <a:t>Nogle af opgaverne er meget udførligt beskrevet</a:t>
            </a:r>
          </a:p>
          <a:p>
            <a:pPr lvl="2"/>
            <a:r>
              <a:rPr lang="da-DK" noProof="0" dirty="0"/>
              <a:t>Andre er mere løst beskrevet</a:t>
            </a:r>
          </a:p>
          <a:p>
            <a:r>
              <a:rPr lang="da-DK" sz="2000" noProof="0" dirty="0"/>
              <a:t>https://github.com/alexandrainst/IU-kursus/tree/main/Kursus-3</a:t>
            </a:r>
          </a:p>
          <a:p>
            <a:endParaRPr lang="da-DK" noProof="0" dirty="0"/>
          </a:p>
          <a:p>
            <a:r>
              <a:rPr lang="da-DK" noProof="0" dirty="0"/>
              <a:t>Undervejs må i gerne overveje hvad der er mest hensigtsmæssigt</a:t>
            </a:r>
          </a:p>
          <a:p>
            <a:pPr lvl="2"/>
            <a:r>
              <a:rPr lang="da-DK" noProof="0" dirty="0"/>
              <a:t>De løst beskrevne opgaver forudsætter nogetselvstændigt initiativ for at få mest ud af dem</a:t>
            </a:r>
          </a:p>
          <a:p>
            <a:pPr lvl="2"/>
            <a:r>
              <a:rPr lang="da-DK" noProof="0" dirty="0"/>
              <a:t>De velbeskrevne kan (måske) løses med hovedet under armen</a:t>
            </a:r>
          </a:p>
          <a:p>
            <a:pPr lvl="2"/>
            <a:endParaRPr lang="da-DK" noProof="0" dirty="0"/>
          </a:p>
          <a:p>
            <a:r>
              <a:rPr lang="da-DK" sz="2000" noProof="0" dirty="0"/>
              <a:t>I må gerne genbesøge tidligere øvelser i de senere sessioner (hvis der er tid til overs)</a:t>
            </a:r>
            <a:r>
              <a:rPr lang="da-DK" noProof="0" dirty="0"/>
              <a:t> </a:t>
            </a:r>
          </a:p>
          <a:p>
            <a:endParaRPr lang="da-DK" noProof="0" dirty="0"/>
          </a:p>
          <a:p>
            <a:endParaRPr lang="da-DK" noProof="0" dirty="0"/>
          </a:p>
          <a:p>
            <a:endParaRPr lang="da-DK" noProof="0" dirty="0"/>
          </a:p>
          <a:p>
            <a:endParaRPr lang="da-DK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6C6D9-2442-BC52-1CCD-A7FF19312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F9FD0-5C5B-4B93-96FC-BFE848D1B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DEAD3-467A-04AF-1DFD-6FAEE273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7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1064225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C60BE-3CF9-FE4E-F98E-D870D6C68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</p:spPr>
        <p:txBody>
          <a:bodyPr/>
          <a:lstStyle/>
          <a:p>
            <a:r>
              <a:rPr lang="da-DK" noProof="0" dirty="0"/>
              <a:t>EUD Cyber Environment</a:t>
            </a:r>
          </a:p>
        </p:txBody>
      </p:sp>
    </p:spTree>
    <p:extLst>
      <p:ext uri="{BB962C8B-B14F-4D97-AF65-F5344CB8AC3E}">
        <p14:creationId xmlns:p14="http://schemas.microsoft.com/office/powerpoint/2010/main" val="1394081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6BB6-FA5C-5AA1-6092-AD933ADF1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EUD Cyber Environment – ”Øvelse 0”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FB893-1318-28E4-D577-A4E09BDE7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noProof="0" dirty="0"/>
              <a:t>Vi skal i gang med testmiljøet</a:t>
            </a:r>
          </a:p>
          <a:p>
            <a:r>
              <a:rPr lang="da-DK" noProof="0" dirty="0"/>
              <a:t>Vi skal sikre at alle maskinerne virker og man kan forbinde til dem</a:t>
            </a:r>
          </a:p>
          <a:p>
            <a:r>
              <a:rPr lang="da-DK" noProof="0" dirty="0"/>
              <a:t>Vi kommer (som minimum) til at skulle bruge:</a:t>
            </a:r>
          </a:p>
          <a:p>
            <a:pPr lvl="2"/>
            <a:r>
              <a:rPr lang="da-DK" noProof="0" dirty="0"/>
              <a:t>Kali01</a:t>
            </a:r>
          </a:p>
          <a:p>
            <a:pPr lvl="2"/>
            <a:r>
              <a:rPr lang="da-DK" noProof="0" dirty="0"/>
              <a:t>Vuln-serv1</a:t>
            </a:r>
          </a:p>
          <a:p>
            <a:pPr lvl="2"/>
            <a:r>
              <a:rPr lang="da-DK" noProof="0" dirty="0"/>
              <a:t>OPNsense</a:t>
            </a:r>
          </a:p>
          <a:p>
            <a:pPr lvl="2"/>
            <a:r>
              <a:rPr lang="da-DK" noProof="0" dirty="0"/>
              <a:t>Wazuh</a:t>
            </a:r>
          </a:p>
          <a:p>
            <a:pPr lvl="2"/>
            <a:r>
              <a:rPr lang="da-DK" noProof="0" dirty="0"/>
              <a:t>APPSRV01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C3AF1-C7A4-3B2E-05FA-B962AEDC7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98012-A7E1-31A8-9604-07C9ABFFB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4010F-3CF4-0464-3114-2DB112112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9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7538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8A6CE-4370-1139-01D3-CE0D9F7DA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0F04F-9086-C2F9-4310-4686E92D6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Gå på opdagelse i systemet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54F2F-5213-C4A1-834B-50BD0D9A5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noProof="0" dirty="0"/>
              <a:t>Vi har nogle generelle øvelser, som kan hjælpe jer med at komme rundt</a:t>
            </a:r>
          </a:p>
          <a:p>
            <a:pPr lvl="2"/>
            <a:r>
              <a:rPr lang="da-DK" noProof="0" dirty="0"/>
              <a:t>De kan forholdvis hurtigt løses som “bare minimum”</a:t>
            </a:r>
          </a:p>
          <a:p>
            <a:pPr lvl="2"/>
            <a:r>
              <a:rPr lang="da-DK" noProof="0" dirty="0"/>
              <a:t>I må meget gerne bygge videre på dem og prøve forskellige ting</a:t>
            </a:r>
          </a:p>
          <a:p>
            <a:endParaRPr lang="da-DK" noProof="0" dirty="0"/>
          </a:p>
          <a:p>
            <a:r>
              <a:rPr lang="da-DK" noProof="0" dirty="0"/>
              <a:t>@Windows: Der har været nogle problemer med setuppet</a:t>
            </a:r>
          </a:p>
          <a:p>
            <a:pPr lvl="2"/>
            <a:r>
              <a:rPr lang="da-DK" noProof="0" dirty="0"/>
              <a:t>Forhåbentligt bliver de løst</a:t>
            </a:r>
          </a:p>
          <a:p>
            <a:pPr lvl="2"/>
            <a:r>
              <a:rPr lang="da-DK" noProof="0" dirty="0"/>
              <a:t>Windows specifikke opgaver kan evt. løses lokalt (de er “ikke-invasive”)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7DACD-124C-74C3-9EB5-40ECE1866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0AAB0-FBAD-FF81-625E-D9E95874B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46F94-CD78-3854-C045-186E3354B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10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3747192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8BEBD-2CC4-D18F-34B3-E01CC0AE1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B08F8-A33A-E765-31BF-5279D85B1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Logning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6945F-616A-E6C1-F25F-E4AC43BBD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noProof="0" dirty="0"/>
              <a:t>Selve øvelserne handler om lokal logning</a:t>
            </a:r>
          </a:p>
          <a:p>
            <a:endParaRPr lang="da-DK" noProof="0" dirty="0"/>
          </a:p>
          <a:p>
            <a:r>
              <a:rPr lang="da-DK" noProof="0" dirty="0"/>
              <a:t>Logning er centralt for sikkerhed:</a:t>
            </a:r>
          </a:p>
          <a:p>
            <a:pPr lvl="2"/>
            <a:r>
              <a:rPr lang="da-DK" noProof="0" dirty="0"/>
              <a:t>Forudsætning for at opdage om man bliver angrebet (Detect)</a:t>
            </a:r>
          </a:p>
          <a:p>
            <a:pPr lvl="2"/>
            <a:r>
              <a:rPr lang="da-DK" noProof="0" dirty="0"/>
              <a:t>Nødvendigt for at se hvad der skete efter man har konstanteret et angreb (Forensics)</a:t>
            </a:r>
          </a:p>
          <a:p>
            <a:pPr lvl="2"/>
            <a:endParaRPr lang="da-DK" noProof="0" dirty="0"/>
          </a:p>
          <a:p>
            <a:r>
              <a:rPr lang="da-DK" noProof="0" dirty="0"/>
              <a:t>Som regel vil man samle logs centralt i et SIEM system</a:t>
            </a:r>
          </a:p>
          <a:p>
            <a:pPr lvl="2"/>
            <a:r>
              <a:rPr lang="da-DK" noProof="0" dirty="0"/>
              <a:t>Næste session handler om Wazuh</a:t>
            </a:r>
          </a:p>
          <a:p>
            <a:endParaRPr lang="da-DK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A87D9-4768-DCEB-41AE-0ADA47DF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AD950-5C0A-DDF3-F1CD-2EEBBC651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F2D89-8E4B-023E-688F-768C914CE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11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2172972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A4FB9-881B-0F98-9BC5-D7AA34EE6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Øvelser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4B8C5-1E12-E852-74F8-097CCF572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999" y="1205121"/>
            <a:ext cx="10923192" cy="4320000"/>
          </a:xfrm>
        </p:spPr>
        <p:txBody>
          <a:bodyPr/>
          <a:lstStyle/>
          <a:p>
            <a:r>
              <a:rPr lang="da-DK" noProof="0" dirty="0"/>
              <a:t>Step 1: Forbind til de forskellige maskiner</a:t>
            </a:r>
          </a:p>
          <a:p>
            <a:r>
              <a:rPr lang="da-DK" noProof="0" dirty="0"/>
              <a:t>Step 2: Forsøg med Nmap(Zenmap)  </a:t>
            </a:r>
          </a:p>
          <a:p>
            <a:pPr lvl="2"/>
            <a:r>
              <a:rPr lang="da-DK" noProof="0" dirty="0"/>
              <a:t>Lav en scanning af netværket og noter hvad i finder</a:t>
            </a:r>
          </a:p>
          <a:p>
            <a:pPr lvl="2"/>
            <a:r>
              <a:rPr lang="da-DK" noProof="0" dirty="0"/>
              <a:t>Passer det med hvad i havde forventet?</a:t>
            </a:r>
          </a:p>
          <a:p>
            <a:r>
              <a:rPr lang="da-DK" noProof="0" dirty="0"/>
              <a:t>Step 3: Løs opgaverne i “Opgave 0 – Find og verificer standard logs”</a:t>
            </a:r>
          </a:p>
          <a:p>
            <a:pPr lvl="2"/>
            <a:r>
              <a:rPr lang="da-DK" noProof="0" dirty="0"/>
              <a:t>Særligt “mini-øvelserne på side 8” er relevante at komme igennem</a:t>
            </a:r>
          </a:p>
          <a:p>
            <a:pPr lvl="2"/>
            <a:r>
              <a:rPr lang="da-DK" noProof="0" dirty="0"/>
              <a:t>https://github.com/alexandrainst/IU-kursus/tree/main/Kursus-3</a:t>
            </a:r>
          </a:p>
          <a:p>
            <a:endParaRPr lang="da-DK" noProof="0" dirty="0"/>
          </a:p>
          <a:p>
            <a:r>
              <a:rPr lang="da-DK" noProof="0" dirty="0"/>
              <a:t>Generelt: Overvej hvor udførligt opgaverne er beskrevet</a:t>
            </a:r>
          </a:p>
          <a:p>
            <a:endParaRPr lang="da-DK" noProof="0" dirty="0"/>
          </a:p>
          <a:p>
            <a:pPr marL="0" indent="0" algn="ctr">
              <a:buNone/>
            </a:pPr>
            <a:r>
              <a:rPr lang="da-DK" sz="3600" noProof="0" dirty="0"/>
              <a:t>Opsamling kl. 10.10</a:t>
            </a:r>
          </a:p>
          <a:p>
            <a:pPr marL="360000" lvl="2" indent="0">
              <a:buNone/>
            </a:pPr>
            <a:r>
              <a:rPr lang="da-DK" noProof="0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DFB8F-7E8D-1CF7-AA73-EB5DACE03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4CA1F-911F-9928-DC7D-290CD4C92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F1F14-4DD7-80E4-22F5-9461E1C43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12</a:t>
            </a:fld>
            <a:endParaRPr lang="da-DK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CECB8C-CF8B-B397-F8D9-DDA159625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696" y="687699"/>
            <a:ext cx="3892310" cy="2209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694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77745-741C-885D-4967-6194F84F8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3836A11E-F1CE-AC62-7FA8-4E65363D4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8" y="390038"/>
            <a:ext cx="10584015" cy="553998"/>
          </a:xfrm>
        </p:spPr>
        <p:txBody>
          <a:bodyPr/>
          <a:lstStyle/>
          <a:p>
            <a:r>
              <a:rPr lang="da-DK" noProof="0" dirty="0">
                <a:latin typeface="Arial"/>
                <a:cs typeface="Arial"/>
              </a:rPr>
              <a:t>Agenda: Dag 1</a:t>
            </a:r>
            <a:endParaRPr lang="da-DK" noProof="0" dirty="0"/>
          </a:p>
        </p:txBody>
      </p:sp>
      <p:graphicFrame>
        <p:nvGraphicFramePr>
          <p:cNvPr id="12" name="Pladsholder til indhold 11">
            <a:extLst>
              <a:ext uri="{FF2B5EF4-FFF2-40B4-BE49-F238E27FC236}">
                <a16:creationId xmlns:a16="http://schemas.microsoft.com/office/drawing/2014/main" id="{43A6A4AF-995B-2114-19F4-35C4648953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1020265"/>
              </p:ext>
            </p:extLst>
          </p:nvPr>
        </p:nvGraphicFramePr>
        <p:xfrm>
          <a:off x="1245463" y="1025517"/>
          <a:ext cx="10238550" cy="5973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5249">
                  <a:extLst>
                    <a:ext uri="{9D8B030D-6E8A-4147-A177-3AD203B41FA5}">
                      <a16:colId xmlns:a16="http://schemas.microsoft.com/office/drawing/2014/main" val="3568212222"/>
                    </a:ext>
                  </a:extLst>
                </a:gridCol>
                <a:gridCol w="6200549">
                  <a:extLst>
                    <a:ext uri="{9D8B030D-6E8A-4147-A177-3AD203B41FA5}">
                      <a16:colId xmlns:a16="http://schemas.microsoft.com/office/drawing/2014/main" val="3991436401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648554971"/>
                    </a:ext>
                  </a:extLst>
                </a:gridCol>
              </a:tblGrid>
              <a:tr h="366284">
                <a:tc>
                  <a:txBody>
                    <a:bodyPr/>
                    <a:lstStyle/>
                    <a:p>
                      <a:r>
                        <a:rPr lang="da-DK" noProof="0" dirty="0"/>
                        <a:t>Tidspunkt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noProof="0" dirty="0"/>
                        <a:t>Emne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noProof="0" dirty="0"/>
                        <a:t>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083505"/>
                  </a:ext>
                </a:extLst>
              </a:tr>
              <a:tr h="372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 dirty="0"/>
                        <a:t>9.00-9.10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noProof="0" dirty="0"/>
                        <a:t>Plan for kursus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Oplæg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721731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 dirty="0"/>
                        <a:t>9.10-9.30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noProof="0" dirty="0"/>
                        <a:t>Introduktion til EUD Cyber 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noProof="0" dirty="0"/>
                        <a:t>Oplæg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949661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 dirty="0"/>
                        <a:t>9.30-10.20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EUD Cyber environment- Hands on (Opgave 0)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noProof="0" dirty="0"/>
                        <a:t>Logge på systemerne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noProof="0" dirty="0"/>
                        <a:t>Skabe hændelser og finde dem i relevante logfiler (lokalt)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Oplæg, øvelse + plenum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376553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 dirty="0"/>
                        <a:t>10.20-10.30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noProof="0" dirty="0"/>
                        <a:t>Pause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898247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10.30-12.00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noProof="0" dirty="0"/>
                        <a:t>SIEM og centraliseret logging: Wazuh</a:t>
                      </a:r>
                    </a:p>
                    <a:p>
                      <a:pPr marL="457200" marR="0" lvl="1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sz="1400" noProof="0" dirty="0"/>
                        <a:t>Konfigurere Wazuh og installere agenter</a:t>
                      </a:r>
                    </a:p>
                    <a:p>
                      <a:pPr marL="457200" marR="0" lvl="1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sz="1400" noProof="0" dirty="0"/>
                        <a:t>Skabe hændelse og overvåge dem centralt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Oplæg, øvelse + plenum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642171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12.00-12.45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Frokost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760828"/>
                  </a:ext>
                </a:extLst>
              </a:tr>
              <a:tr h="38656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12.45-14.15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IDS/IPS: Opnsense (og integration med Wazuh)</a:t>
                      </a:r>
                    </a:p>
                    <a:p>
                      <a:pPr marL="45720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noProof="0" dirty="0"/>
                        <a:t>Konfigurere IDS og IPS i Opnsense</a:t>
                      </a:r>
                    </a:p>
                    <a:p>
                      <a:pPr marL="45720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noProof="0" dirty="0"/>
                        <a:t>Observere alarmer og blokeringer i praksis</a:t>
                      </a:r>
                    </a:p>
                    <a:p>
                      <a:pPr marL="45720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noProof="0" dirty="0"/>
                        <a:t>Integrere Opnsense med Wazuh</a:t>
                      </a:r>
                      <a:endParaRPr lang="da-DK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Oplæg, øvelse + plenum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0355"/>
                  </a:ext>
                </a:extLst>
              </a:tr>
              <a:tr h="38656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a-DK" noProof="0" dirty="0"/>
                        <a:t>14.15-14.30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Pause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353634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 dirty="0"/>
                        <a:t>14.30-16.00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noProof="0" dirty="0"/>
                        <a:t>Authentication, Authorization and Accounting: RADIUS</a:t>
                      </a:r>
                    </a:p>
                    <a:p>
                      <a:pPr marL="457200" marR="0" lvl="1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sz="1400" noProof="0" dirty="0"/>
                        <a:t>Konfigurere central authentication på en RADIUS server</a:t>
                      </a:r>
                    </a:p>
                    <a:p>
                      <a:pPr marL="457200" marR="0" lvl="1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sz="1400" noProof="0" dirty="0"/>
                        <a:t>Konfigurere Opnsense til at anvende RADIUS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Oplæg, øvelse + plenum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879610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16.00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noProof="0" dirty="0"/>
                        <a:t>Slut for i 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767376"/>
                  </a:ext>
                </a:extLst>
              </a:tr>
            </a:tbl>
          </a:graphicData>
        </a:graphic>
      </p:graphicFrame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F5596D6-5750-8743-0933-AC60FE0CA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7D938-B50E-D842-AEDC-C3B711F6BEE0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B13E211-C738-6F59-FDFF-FE0B2032E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11C24FC-4003-C1A8-CAE0-71818B63B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13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3143655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D7255-AB8C-F101-BDA1-D70ACA6A7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1412B-172D-EC19-9FE1-1823519F3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</p:spPr>
        <p:txBody>
          <a:bodyPr/>
          <a:lstStyle/>
          <a:p>
            <a:r>
              <a:rPr lang="da-DK" noProof="0" dirty="0"/>
              <a:t>Wazuh og SIEM</a:t>
            </a:r>
          </a:p>
        </p:txBody>
      </p:sp>
    </p:spTree>
    <p:extLst>
      <p:ext uri="{BB962C8B-B14F-4D97-AF65-F5344CB8AC3E}">
        <p14:creationId xmlns:p14="http://schemas.microsoft.com/office/powerpoint/2010/main" val="1809539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E8BB5-C87A-9E8A-A02C-5733C4111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>
                <a:latin typeface="Arial"/>
                <a:ea typeface="Verdana"/>
                <a:cs typeface="Arial"/>
              </a:rPr>
              <a:t>Centraliseret logning – hvorfor?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5E723-81EF-C228-DF2D-56F31325F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r>
              <a:rPr lang="da-DK" noProof="0" dirty="0">
                <a:latin typeface="Arial"/>
                <a:ea typeface="Tahoma"/>
                <a:cs typeface="Arial"/>
              </a:rPr>
              <a:t>Bedre mulighed for hurtig response på sikkerhedsbrud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da-DK" noProof="0" dirty="0">
                <a:latin typeface="Arial"/>
                <a:ea typeface="Tahoma"/>
                <a:cs typeface="Arial"/>
              </a:rPr>
              <a:t>"Zero-days"</a:t>
            </a:r>
          </a:p>
          <a:p>
            <a:pPr marL="719455" lvl="2" indent="-359410">
              <a:lnSpc>
                <a:spcPct val="113999"/>
              </a:lnSpc>
              <a:buFont typeface="Wingdings" panose="020B0604020202020204" pitchFamily="34" charset="0"/>
              <a:buChar char="§"/>
            </a:pPr>
            <a:r>
              <a:rPr lang="da-DK" noProof="0" dirty="0">
                <a:latin typeface="Arial"/>
                <a:ea typeface="Tahoma"/>
                <a:cs typeface="Arial"/>
              </a:rPr>
              <a:t>DoS</a:t>
            </a:r>
          </a:p>
          <a:p>
            <a:pPr marL="719455" lvl="2" indent="-359410">
              <a:lnSpc>
                <a:spcPct val="113999"/>
              </a:lnSpc>
              <a:buFont typeface="Wingdings" panose="020B0604020202020204" pitchFamily="34" charset="0"/>
              <a:buChar char="§"/>
            </a:pPr>
            <a:r>
              <a:rPr lang="da-DK" noProof="0" dirty="0">
                <a:latin typeface="Arial"/>
                <a:ea typeface="Tahoma"/>
                <a:cs typeface="Arial"/>
              </a:rPr>
              <a:t>Bruteforce</a:t>
            </a:r>
          </a:p>
          <a:p>
            <a:pPr marL="719455" lvl="2" indent="-359410">
              <a:lnSpc>
                <a:spcPct val="113999"/>
              </a:lnSpc>
              <a:buFont typeface="Wingdings" panose="020B0604020202020204" pitchFamily="34" charset="0"/>
              <a:buChar char="§"/>
            </a:pPr>
            <a:r>
              <a:rPr lang="da-DK" noProof="0" dirty="0">
                <a:latin typeface="Arial"/>
                <a:ea typeface="Tahoma"/>
                <a:cs typeface="Arial"/>
              </a:rPr>
              <a:t>Opdage lateral bevægelse</a:t>
            </a:r>
          </a:p>
          <a:p>
            <a:pPr marL="359410" indent="-359410">
              <a:lnSpc>
                <a:spcPct val="113999"/>
              </a:lnSpc>
            </a:pPr>
            <a:r>
              <a:rPr lang="da-DK" noProof="0" dirty="0">
                <a:latin typeface="Arial"/>
                <a:ea typeface="Tahoma"/>
                <a:cs typeface="Arial"/>
              </a:rPr>
              <a:t>Mulighed for at diagnosticere hændelser efter de er sket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da-DK" noProof="0" dirty="0">
                <a:latin typeface="Arial"/>
                <a:ea typeface="Tahoma"/>
                <a:cs typeface="Arial"/>
              </a:rPr>
              <a:t>Integritet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da-DK" noProof="0" dirty="0">
                <a:latin typeface="Arial"/>
                <a:ea typeface="Tahoma"/>
                <a:cs typeface="Arial"/>
              </a:rPr>
              <a:t>Privilegieeskalering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da-DK" noProof="0" dirty="0">
                <a:latin typeface="Arial"/>
                <a:ea typeface="Tahoma"/>
                <a:cs typeface="Arial"/>
              </a:rPr>
              <a:t>Analyse af strategier</a:t>
            </a:r>
            <a:endParaRPr lang="da-DK" noProof="0" dirty="0">
              <a:ea typeface="Tahoma"/>
            </a:endParaRP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da-DK" noProof="0" dirty="0">
                <a:latin typeface="Arial"/>
                <a:ea typeface="Tahoma"/>
                <a:cs typeface="Arial"/>
              </a:rPr>
              <a:t>Opdage lateral bevægelse</a:t>
            </a:r>
            <a:endParaRPr lang="da-DK" noProof="0" dirty="0">
              <a:ea typeface="Tahoma"/>
            </a:endParaRP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endParaRPr lang="da-DK" noProof="0" dirty="0">
              <a:ea typeface="Tahoma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BB41C-AB6F-06EA-C1DE-DFE58394C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8CA17-79EB-8627-F48B-1F737F7A4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A6BF1-6300-B030-162F-8A9BEED1C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15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2830575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E3763-8CB9-D7AD-4AF7-A3610E660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9" y="540000"/>
            <a:ext cx="10440000" cy="553998"/>
          </a:xfrm>
        </p:spPr>
        <p:txBody>
          <a:bodyPr/>
          <a:lstStyle/>
          <a:p>
            <a:r>
              <a:rPr lang="da-DK" noProof="0" dirty="0">
                <a:latin typeface="Arial"/>
                <a:ea typeface="Verdana"/>
                <a:cs typeface="Arial"/>
              </a:rPr>
              <a:t>Centraliseret logning har mange navne</a:t>
            </a:r>
            <a:endParaRPr lang="da-DK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0A19C-7004-13E2-4397-26E2B9F94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r>
              <a:rPr lang="da-DK" noProof="0" dirty="0">
                <a:latin typeface="Arial"/>
                <a:ea typeface="Tahoma"/>
                <a:cs typeface="Arial"/>
              </a:rPr>
              <a:t>EDR – Endpoint Detect and Response </a:t>
            </a:r>
          </a:p>
          <a:p>
            <a:pPr marL="359410" indent="-359410">
              <a:lnSpc>
                <a:spcPct val="113999"/>
              </a:lnSpc>
            </a:pPr>
            <a:r>
              <a:rPr lang="da-DK" noProof="0" dirty="0">
                <a:latin typeface="Arial"/>
                <a:ea typeface="Tahoma"/>
                <a:cs typeface="Arial"/>
              </a:rPr>
              <a:t>MDR – Managed Detect and Response</a:t>
            </a:r>
            <a:endParaRPr lang="da-DK" noProof="0" dirty="0"/>
          </a:p>
          <a:p>
            <a:pPr marL="359410" indent="-359410">
              <a:lnSpc>
                <a:spcPct val="113999"/>
              </a:lnSpc>
            </a:pPr>
            <a:r>
              <a:rPr lang="da-DK" noProof="0" dirty="0">
                <a:latin typeface="Arial"/>
                <a:ea typeface="Tahoma"/>
                <a:cs typeface="Arial"/>
              </a:rPr>
              <a:t>XDR – eXtended Detect and Response</a:t>
            </a:r>
            <a:endParaRPr lang="da-DK" noProof="0" dirty="0"/>
          </a:p>
          <a:p>
            <a:pPr marL="359410" indent="-359410">
              <a:lnSpc>
                <a:spcPct val="113999"/>
              </a:lnSpc>
            </a:pPr>
            <a:r>
              <a:rPr lang="da-DK" noProof="0" dirty="0">
                <a:latin typeface="Arial"/>
                <a:ea typeface="Tahoma"/>
                <a:cs typeface="Arial"/>
              </a:rPr>
              <a:t>SIEM – Security Information Event Management</a:t>
            </a:r>
          </a:p>
          <a:p>
            <a:pPr marL="359410" indent="-359410">
              <a:lnSpc>
                <a:spcPct val="113999"/>
              </a:lnSpc>
            </a:pPr>
            <a:r>
              <a:rPr lang="da-DK" noProof="0" dirty="0">
                <a:latin typeface="Arial"/>
                <a:ea typeface="Tahoma"/>
                <a:cs typeface="Arial"/>
              </a:rPr>
              <a:t>SOAR – Security Orchestration, Automation, and Response </a:t>
            </a:r>
          </a:p>
          <a:p>
            <a:pPr marL="359410" indent="-359410">
              <a:lnSpc>
                <a:spcPct val="113999"/>
              </a:lnSpc>
            </a:pPr>
            <a:r>
              <a:rPr lang="da-DK" noProof="0" dirty="0">
                <a:latin typeface="Arial"/>
                <a:ea typeface="Tahoma"/>
                <a:cs typeface="Arial"/>
              </a:rPr>
              <a:t>SOC – Security Operations Center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D0B7C-7848-F7A9-7EB0-833312005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B9368-BA83-DA1A-8937-3344F0FF1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62045-CF5E-031D-54D8-CF9DC6150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16</a:t>
            </a:fld>
            <a:endParaRPr lang="da-DK" noProof="0" dirty="0"/>
          </a:p>
        </p:txBody>
      </p:sp>
      <p:pic>
        <p:nvPicPr>
          <p:cNvPr id="4098" name="Picture 2" descr="GitHub - wazuh/wazuh-indexer-plugins ...">
            <a:extLst>
              <a:ext uri="{FF2B5EF4-FFF2-40B4-BE49-F238E27FC236}">
                <a16:creationId xmlns:a16="http://schemas.microsoft.com/office/drawing/2014/main" id="{47675169-8DCC-E0FC-0F53-FA59766FB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699" y="2682093"/>
            <a:ext cx="1039749" cy="417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GitHub - wazuh/wazuh-indexer-plugins ...">
            <a:extLst>
              <a:ext uri="{FF2B5EF4-FFF2-40B4-BE49-F238E27FC236}">
                <a16:creationId xmlns:a16="http://schemas.microsoft.com/office/drawing/2014/main" id="{B9B71F1C-FF95-4F31-88B7-98DBAE70B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699" y="1512587"/>
            <a:ext cx="1039749" cy="417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GitHub - wazuh/wazuh-indexer-plugins ...">
            <a:extLst>
              <a:ext uri="{FF2B5EF4-FFF2-40B4-BE49-F238E27FC236}">
                <a16:creationId xmlns:a16="http://schemas.microsoft.com/office/drawing/2014/main" id="{4B28684F-84C5-807A-EE49-380F1C9F2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699" y="3109437"/>
            <a:ext cx="1039749" cy="417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5688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40136-C554-9782-5CA4-3F7E8B27D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F9044-0EB0-FAFF-033D-CB1699C42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1490008"/>
            <a:ext cx="9594585" cy="3877985"/>
          </a:xfrm>
        </p:spPr>
        <p:txBody>
          <a:bodyPr/>
          <a:lstStyle/>
          <a:p>
            <a:r>
              <a:rPr lang="da-DK" noProof="0" dirty="0"/>
              <a:t>ADVARSEL</a:t>
            </a:r>
            <a:br>
              <a:rPr lang="da-DK" noProof="0" dirty="0"/>
            </a:br>
            <a:br>
              <a:rPr lang="da-DK" noProof="0" dirty="0"/>
            </a:br>
            <a:br>
              <a:rPr lang="da-DK" noProof="0" dirty="0"/>
            </a:br>
            <a:r>
              <a:rPr lang="da-DK" noProof="0" dirty="0"/>
              <a:t>Logdata kan være underlagt GDPR</a:t>
            </a:r>
            <a:br>
              <a:rPr lang="da-DK" noProof="0" dirty="0"/>
            </a:br>
            <a:br>
              <a:rPr lang="da-DK" noProof="0" dirty="0"/>
            </a:br>
            <a:br>
              <a:rPr lang="da-DK" noProof="0" dirty="0"/>
            </a:br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33950724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1685D-64E0-C729-C1BF-FF75C6AFE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9" y="540000"/>
            <a:ext cx="10440000" cy="578813"/>
          </a:xfrm>
        </p:spPr>
        <p:txBody>
          <a:bodyPr/>
          <a:lstStyle/>
          <a:p>
            <a:pPr>
              <a:lnSpc>
                <a:spcPct val="113999"/>
              </a:lnSpc>
              <a:spcBef>
                <a:spcPts val="600"/>
              </a:spcBef>
            </a:pPr>
            <a:r>
              <a:rPr lang="da-DK" noProof="0" dirty="0">
                <a:latin typeface="Arial"/>
                <a:ea typeface="Verdana"/>
                <a:cs typeface="Arial"/>
              </a:rPr>
              <a:t>EDR – Endpoint </a:t>
            </a:r>
            <a:r>
              <a:rPr lang="da-DK" b="1" noProof="0" dirty="0">
                <a:latin typeface="Arial"/>
                <a:ea typeface="Verdana"/>
                <a:cs typeface="Arial"/>
              </a:rPr>
              <a:t>Detection</a:t>
            </a:r>
            <a:r>
              <a:rPr lang="da-DK" noProof="0" dirty="0">
                <a:latin typeface="Arial"/>
                <a:ea typeface="Verdana"/>
                <a:cs typeface="Arial"/>
              </a:rPr>
              <a:t> and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D0F91-5DCE-2E21-9D45-CCA7B4877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457200" indent="-457200">
              <a:lnSpc>
                <a:spcPct val="113999"/>
              </a:lnSpc>
            </a:pPr>
            <a:r>
              <a:rPr lang="da-DK" noProof="0" dirty="0">
                <a:latin typeface="Arial"/>
                <a:ea typeface="Tahoma"/>
                <a:cs typeface="Arial"/>
              </a:rPr>
              <a:t>Indsamler data via "agenter" (lightweight klienter på endpoints) fx.:</a:t>
            </a:r>
            <a:endParaRPr lang="da-DK" noProof="0" dirty="0">
              <a:ea typeface="Tahoma"/>
            </a:endParaRP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da-DK" noProof="0" dirty="0">
                <a:latin typeface="Arial"/>
                <a:ea typeface="Tahoma"/>
                <a:cs typeface="Arial"/>
              </a:rPr>
              <a:t>Processer der bliver kørt</a:t>
            </a:r>
          </a:p>
          <a:p>
            <a:pPr marL="719455" lvl="2" indent="-359410">
              <a:lnSpc>
                <a:spcPct val="113999"/>
              </a:lnSpc>
              <a:buFont typeface="Wingdings" panose="020B0604020202020204" pitchFamily="34" charset="0"/>
              <a:buChar char="§"/>
            </a:pPr>
            <a:r>
              <a:rPr lang="da-DK" noProof="0" dirty="0">
                <a:latin typeface="Arial"/>
                <a:ea typeface="Tahoma"/>
                <a:cs typeface="Arial"/>
              </a:rPr>
              <a:t>Servere der bliver forbundet til</a:t>
            </a:r>
          </a:p>
          <a:p>
            <a:pPr marL="719455" lvl="2" indent="-359410">
              <a:lnSpc>
                <a:spcPct val="113999"/>
              </a:lnSpc>
              <a:buFont typeface="Wingdings" panose="020B0604020202020204" pitchFamily="34" charset="0"/>
              <a:buChar char="§"/>
            </a:pPr>
            <a:r>
              <a:rPr lang="da-DK" noProof="0" dirty="0">
                <a:latin typeface="Arial"/>
                <a:ea typeface="Tahoma"/>
                <a:cs typeface="Arial"/>
              </a:rPr>
              <a:t>Filer der bliver åbnet/modificeret/slettet</a:t>
            </a:r>
          </a:p>
          <a:p>
            <a:pPr marL="359410" indent="-359410">
              <a:lnSpc>
                <a:spcPct val="113999"/>
              </a:lnSpc>
              <a:buClr>
                <a:srgbClr val="343434"/>
              </a:buClr>
            </a:pPr>
            <a:r>
              <a:rPr lang="da-DK" noProof="0" dirty="0">
                <a:latin typeface="Arial"/>
                <a:ea typeface="Tahoma"/>
                <a:cs typeface="Arial"/>
              </a:rPr>
              <a:t>Kan opdage trusler og angreb: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da-DK" noProof="0" dirty="0">
                <a:latin typeface="Arial"/>
                <a:ea typeface="Tahoma"/>
                <a:cs typeface="Arial"/>
              </a:rPr>
              <a:t>Kendte angreb: Giv alarm ved kendt malware kendt ved fingerprints/digests (ala anti-virus)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da-DK" noProof="0" dirty="0">
                <a:latin typeface="Arial"/>
                <a:ea typeface="Tahoma"/>
                <a:cs typeface="Arial"/>
              </a:rPr>
              <a:t>Ukendte angreb: Undersøg opførsel (f.eks. hvis en applikation uventet anmoder og flere privilegier end normalt)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endParaRPr lang="da-DK" noProof="0" dirty="0">
              <a:latin typeface="Arial"/>
              <a:ea typeface="Tahoma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19734-8C08-A66C-3FDF-DCC9AF625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E653E-EB2B-7B5B-8727-BC717E9FF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67972-3AE5-47B1-5633-29FEB15C8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18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3342761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BF86E-9C89-2532-0842-FD165E2F0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B537D-F6EC-52CE-36C1-352976DF6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9" y="540000"/>
            <a:ext cx="10440000" cy="1185581"/>
          </a:xfrm>
        </p:spPr>
        <p:txBody>
          <a:bodyPr/>
          <a:lstStyle/>
          <a:p>
            <a:pPr>
              <a:lnSpc>
                <a:spcPct val="113999"/>
              </a:lnSpc>
              <a:spcBef>
                <a:spcPts val="600"/>
              </a:spcBef>
            </a:pPr>
            <a:r>
              <a:rPr lang="da-DK" noProof="0" dirty="0">
                <a:latin typeface="Arial"/>
                <a:ea typeface="Verdana"/>
                <a:cs typeface="Arial"/>
              </a:rPr>
              <a:t>EDR – Endpoint Detection and </a:t>
            </a:r>
            <a:r>
              <a:rPr lang="da-DK" b="1" noProof="0" dirty="0">
                <a:latin typeface="Arial"/>
                <a:ea typeface="Verdana"/>
                <a:cs typeface="Arial"/>
              </a:rPr>
              <a:t>Response</a:t>
            </a:r>
          </a:p>
          <a:p>
            <a:endParaRPr lang="da-DK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EA862-372A-3BC0-8BA0-A27AD35C1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42900" indent="-342900">
              <a:buClr>
                <a:srgbClr val="343434"/>
              </a:buClr>
            </a:pPr>
            <a:r>
              <a:rPr lang="da-DK" noProof="0" dirty="0">
                <a:latin typeface="Arial"/>
                <a:ea typeface="Tahoma"/>
                <a:cs typeface="Arial"/>
              </a:rPr>
              <a:t>Reagere på trusler og angreb</a:t>
            </a:r>
            <a:endParaRPr lang="da-DK" noProof="0" dirty="0"/>
          </a:p>
          <a:p>
            <a:pPr marL="81724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da-DK" noProof="0" dirty="0">
                <a:latin typeface="Arial"/>
                <a:ea typeface="Tahoma"/>
                <a:cs typeface="Arial"/>
              </a:rPr>
              <a:t>Stop processer</a:t>
            </a:r>
            <a:endParaRPr lang="da-DK" noProof="0" dirty="0">
              <a:ea typeface="Tahoma"/>
            </a:endParaRPr>
          </a:p>
          <a:p>
            <a:pPr marL="81724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da-DK" noProof="0" dirty="0">
                <a:latin typeface="Arial"/>
                <a:ea typeface="Tahoma"/>
                <a:cs typeface="Arial"/>
              </a:rPr>
              <a:t>Isoler fra netværk</a:t>
            </a:r>
          </a:p>
          <a:p>
            <a:pPr marL="457200" indent="-457200">
              <a:lnSpc>
                <a:spcPct val="113999"/>
              </a:lnSpc>
              <a:buClr>
                <a:srgbClr val="343434"/>
              </a:buClr>
            </a:pPr>
            <a:endParaRPr lang="da-DK" noProof="0" dirty="0">
              <a:latin typeface="Arial"/>
              <a:ea typeface="Tahoma"/>
              <a:cs typeface="Arial"/>
            </a:endParaRPr>
          </a:p>
          <a:p>
            <a:pPr marL="457200" indent="-457200">
              <a:lnSpc>
                <a:spcPct val="113999"/>
              </a:lnSpc>
              <a:buClr>
                <a:srgbClr val="343434"/>
              </a:buClr>
            </a:pPr>
            <a:r>
              <a:rPr lang="da-DK" noProof="0" dirty="0">
                <a:latin typeface="Arial"/>
                <a:ea typeface="Tahoma"/>
                <a:cs typeface="Arial"/>
              </a:rPr>
              <a:t>Gem data til forensics og compliance</a:t>
            </a:r>
          </a:p>
          <a:p>
            <a:pPr marL="81724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da-DK" noProof="0" dirty="0">
                <a:latin typeface="Arial"/>
                <a:ea typeface="Tahoma"/>
                <a:cs typeface="Arial"/>
              </a:rPr>
              <a:t>Gem data til analyse I tilfælde af angreb</a:t>
            </a:r>
          </a:p>
          <a:p>
            <a:pPr marL="81724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endParaRPr lang="da-DK" noProof="0" dirty="0">
              <a:latin typeface="Arial"/>
              <a:ea typeface="Tahoma"/>
              <a:cs typeface="Arial"/>
            </a:endParaRPr>
          </a:p>
          <a:p>
            <a:pPr marL="457835" lvl="2" indent="0" algn="ctr">
              <a:lnSpc>
                <a:spcPct val="113999"/>
              </a:lnSpc>
              <a:buClr>
                <a:srgbClr val="343434"/>
              </a:buClr>
              <a:buNone/>
            </a:pPr>
            <a:endParaRPr lang="da-DK" sz="2800" noProof="0" dirty="0">
              <a:ea typeface="Tahoma"/>
            </a:endParaRPr>
          </a:p>
          <a:p>
            <a:pPr marL="457835" lvl="2" indent="0" algn="ctr">
              <a:lnSpc>
                <a:spcPct val="113999"/>
              </a:lnSpc>
              <a:buClr>
                <a:srgbClr val="343434"/>
              </a:buClr>
              <a:buNone/>
            </a:pPr>
            <a:r>
              <a:rPr lang="da-DK" sz="3600" noProof="0" dirty="0">
                <a:ea typeface="Tahoma"/>
              </a:rPr>
              <a:t>Måske mere på næste kursus?</a:t>
            </a:r>
          </a:p>
          <a:p>
            <a:pPr marL="81724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endParaRPr lang="da-DK" noProof="0" dirty="0">
              <a:ea typeface="Tahoma"/>
            </a:endParaRPr>
          </a:p>
          <a:p>
            <a:pPr marL="81724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endParaRPr lang="da-DK" noProof="0" dirty="0">
              <a:ea typeface="Tahoma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71621-DD47-1375-E846-6625E8529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8B9F9-4244-774E-CA4E-91D676CAE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602EB-9AC0-6D36-FD48-03DF27694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19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1275720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C6CEF-2275-8546-DDDC-3B3C543AD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>
                <a:latin typeface="Arial"/>
                <a:ea typeface="Verdana"/>
                <a:cs typeface="Arial"/>
              </a:rPr>
              <a:t>Udfordringer ved EDR</a:t>
            </a:r>
            <a:endParaRPr lang="da-DK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8CCA1-3DE6-8EBC-3F43-4651D2DE2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>
              <a:lnSpc>
                <a:spcPct val="113999"/>
              </a:lnSpc>
            </a:pPr>
            <a:endParaRPr lang="da-DK" noProof="0" dirty="0">
              <a:latin typeface="Arial"/>
              <a:ea typeface="Tahoma"/>
              <a:cs typeface="Arial"/>
            </a:endParaRPr>
          </a:p>
          <a:p>
            <a:pPr marL="359410" indent="-359410">
              <a:lnSpc>
                <a:spcPct val="113999"/>
              </a:lnSpc>
            </a:pPr>
            <a:r>
              <a:rPr lang="da-DK" noProof="0" dirty="0">
                <a:latin typeface="Arial"/>
                <a:ea typeface="Tahoma"/>
                <a:cs typeface="Arial"/>
              </a:rPr>
              <a:t>Kræver dedikeret uddannet personale at konfigurere og forstå</a:t>
            </a:r>
          </a:p>
          <a:p>
            <a:pPr marL="359410" indent="-359410">
              <a:lnSpc>
                <a:spcPct val="113999"/>
              </a:lnSpc>
            </a:pPr>
            <a:endParaRPr lang="da-DK" noProof="0" dirty="0">
              <a:latin typeface="Arial"/>
              <a:ea typeface="Tahoma"/>
              <a:cs typeface="Arial"/>
            </a:endParaRPr>
          </a:p>
          <a:p>
            <a:pPr marL="359410" indent="-359410">
              <a:lnSpc>
                <a:spcPct val="113999"/>
              </a:lnSpc>
            </a:pPr>
            <a:r>
              <a:rPr lang="da-DK" noProof="0" dirty="0">
                <a:latin typeface="Arial"/>
                <a:ea typeface="Tahoma"/>
                <a:cs typeface="Arial"/>
              </a:rPr>
              <a:t>Falske positiver og 'alert fatigue' (alarmudmattelse)</a:t>
            </a:r>
            <a:endParaRPr lang="da-DK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0D22F-121F-4F78-C897-0CAC79564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0D355-EDBD-2071-15F0-6DF8C121E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FCC40-9652-4096-BC25-471107740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20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3686596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59481-DB1F-B16A-3573-F16546A51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>
                <a:latin typeface="Arial"/>
                <a:ea typeface="Verdana"/>
                <a:cs typeface="Arial"/>
              </a:rPr>
              <a:t>Security Information and Event Management</a:t>
            </a:r>
            <a:endParaRPr lang="da-DK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7DD35-CDE9-699A-326B-98510E3BD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>
              <a:lnSpc>
                <a:spcPct val="113999"/>
              </a:lnSpc>
            </a:pPr>
            <a:r>
              <a:rPr lang="da-DK" noProof="0" dirty="0">
                <a:latin typeface="Arial"/>
                <a:ea typeface="Tahoma"/>
                <a:cs typeface="Arial"/>
              </a:rPr>
              <a:t>Interface / portal hvor al sikkerhedsinformation kan samles og analyseres</a:t>
            </a:r>
          </a:p>
          <a:p>
            <a:pPr marL="359410" indent="-359410">
              <a:lnSpc>
                <a:spcPct val="113999"/>
              </a:lnSpc>
              <a:buClr>
                <a:srgbClr val="343434"/>
              </a:buClr>
            </a:pPr>
            <a:r>
              <a:rPr lang="da-DK" noProof="0" dirty="0">
                <a:latin typeface="Arial"/>
                <a:ea typeface="Tahoma"/>
                <a:cs typeface="Arial"/>
              </a:rPr>
              <a:t>Funktionaliteter: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da-DK" noProof="0" dirty="0">
                <a:latin typeface="Arial"/>
                <a:ea typeface="Tahoma"/>
                <a:cs typeface="Arial"/>
              </a:rPr>
              <a:t>Logge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da-DK" noProof="0" dirty="0">
                <a:latin typeface="Arial"/>
                <a:ea typeface="Tahoma"/>
                <a:cs typeface="Arial"/>
              </a:rPr>
              <a:t>Notifikationer og alarmer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da-DK" noProof="0" dirty="0">
                <a:latin typeface="Arial"/>
                <a:ea typeface="Tahoma"/>
                <a:cs typeface="Arial"/>
              </a:rPr>
              <a:t>Dashboards</a:t>
            </a:r>
            <a:endParaRPr lang="da-DK" noProof="0" dirty="0">
              <a:ea typeface="Tahoma"/>
            </a:endParaRPr>
          </a:p>
          <a:p>
            <a:pPr marL="359410" indent="-359410">
              <a:lnSpc>
                <a:spcPct val="113999"/>
              </a:lnSpc>
              <a:buClr>
                <a:srgbClr val="343434"/>
              </a:buClr>
            </a:pPr>
            <a:endParaRPr lang="da-DK" noProof="0" dirty="0">
              <a:latin typeface="Arial"/>
              <a:ea typeface="Tahoma"/>
              <a:cs typeface="Arial"/>
            </a:endParaRPr>
          </a:p>
          <a:p>
            <a:pPr marL="359410" indent="-359410">
              <a:lnSpc>
                <a:spcPct val="113999"/>
              </a:lnSpc>
              <a:buClr>
                <a:srgbClr val="343434"/>
              </a:buClr>
            </a:pPr>
            <a:r>
              <a:rPr lang="da-DK" noProof="0" dirty="0">
                <a:latin typeface="Arial"/>
                <a:ea typeface="Tahoma"/>
                <a:cs typeface="Arial"/>
              </a:rPr>
              <a:t>Anvendelser:</a:t>
            </a:r>
            <a:endParaRPr lang="da-DK" noProof="0" dirty="0">
              <a:latin typeface="Arial" panose="020B0604020202020204" pitchFamily="34" charset="0"/>
              <a:ea typeface="Tahoma"/>
              <a:cs typeface="Arial" panose="020B0604020202020204" pitchFamily="34" charset="0"/>
            </a:endParaRP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da-DK" noProof="0" dirty="0">
                <a:latin typeface="Arial"/>
                <a:ea typeface="Tahoma"/>
                <a:cs typeface="Arial"/>
              </a:rPr>
              <a:t>Forensic 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da-DK" noProof="0" dirty="0">
                <a:latin typeface="Arial"/>
                <a:ea typeface="Tahoma"/>
                <a:cs typeface="Arial"/>
              </a:rPr>
              <a:t>Compliance-rapporter</a:t>
            </a:r>
            <a:endParaRPr lang="da-DK" noProof="0" dirty="0">
              <a:ea typeface="Tahoma"/>
            </a:endParaRP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endParaRPr lang="da-DK" noProof="0" dirty="0">
              <a:ea typeface="Tahoma"/>
            </a:endParaRP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endParaRPr lang="da-DK" noProof="0" dirty="0">
              <a:ea typeface="Tahoma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95946-BC47-53F5-4D7A-DED9E8764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31CBD-5325-469D-A6AB-5507DD4CA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899D3-9D14-0DB3-2285-AC8A47B53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21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6461813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DEA2C-5991-FB4B-A05A-9A635E4C6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 noProof="0" dirty="0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42F940-CC85-9691-8CD2-E56F03CF8F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9" y="-13067"/>
            <a:ext cx="12191706" cy="824229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49A4D-EB58-0034-980B-EA63A3802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11618-103D-1667-9C33-5B6D23A06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BB67A-9745-7E42-EF6F-4D8C08944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22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971197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A64E2-79A9-F5E2-4A48-25FAD2F0C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 noProof="0" dirty="0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38DCBC-69B9-9314-688C-F4929E3222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3" y="747"/>
            <a:ext cx="12877800" cy="686869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DE4BB-31F9-92E6-83B0-E68B9141F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DAF80-275D-4D6E-43AC-66FE6E2EA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5E3AB-4C0D-B3E0-E24A-7AB1FC4C5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23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42890155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94B16-852F-E7EB-24AB-318352A5B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84A5-BAB2-F040-2B26-BF50289E4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WAZUH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1F294-4650-8DE9-288C-80903C196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noProof="0" dirty="0"/>
              <a:t>Et (udbredt) eksempel på en SIEM/EDR/XDR løsning</a:t>
            </a:r>
          </a:p>
          <a:p>
            <a:r>
              <a:rPr lang="da-DK" noProof="0" dirty="0"/>
              <a:t>En god opsummering af funktioner i opgavebeskrivelsen</a:t>
            </a:r>
          </a:p>
          <a:p>
            <a:r>
              <a:rPr lang="da-DK" noProof="0" dirty="0"/>
              <a:t>Kan også lave “automated response” med et modul – men ikke i dag</a:t>
            </a:r>
          </a:p>
          <a:p>
            <a:endParaRPr lang="da-DK" noProof="0" dirty="0"/>
          </a:p>
          <a:p>
            <a:endParaRPr lang="da-DK" noProof="0" dirty="0"/>
          </a:p>
          <a:p>
            <a:endParaRPr lang="da-DK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C91C0-BE9E-B555-49FA-41F75ED13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1DF33-C4CE-29EE-F43A-00464D24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D4E02-D43B-79AF-A562-F22376CA9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24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31293163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943C0-7271-0B99-3736-697FC7F4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1A811-1395-2B4B-7F3D-DC560DC72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WAZUH – Hvordan virker det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29136-ADB6-0BF7-8AA1-198218E1E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noProof="0" dirty="0"/>
              <a:t>Agenter kører på endpoints og indsender information til en server</a:t>
            </a:r>
          </a:p>
          <a:p>
            <a:r>
              <a:rPr lang="da-DK" noProof="0" dirty="0"/>
              <a:t>Er baseret på en lokale konfigurations filer</a:t>
            </a:r>
          </a:p>
          <a:p>
            <a:pPr lvl="2"/>
            <a:r>
              <a:rPr lang="da-DK" dirty="0"/>
              <a:t>Man kan også skubbe centrale konfigurationer ud</a:t>
            </a:r>
          </a:p>
          <a:p>
            <a:r>
              <a:rPr lang="da-DK" dirty="0"/>
              <a:t>Er baseret på regler</a:t>
            </a:r>
          </a:p>
          <a:p>
            <a:pPr lvl="2"/>
            <a:r>
              <a:rPr lang="da-DK" dirty="0"/>
              <a:t>Der findes et (meget) stort sæt, men man kan også lave custom regler </a:t>
            </a:r>
            <a:r>
              <a:rPr lang="da-DK" noProof="0" dirty="0"/>
              <a:t>  </a:t>
            </a:r>
          </a:p>
          <a:p>
            <a:endParaRPr lang="da-DK" noProof="0" dirty="0"/>
          </a:p>
          <a:p>
            <a:endParaRPr lang="da-DK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781AB-C125-3DC1-CA7B-D4494E8D4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77A79-F027-42BD-161D-39BC14E8A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FD6EB-075D-E807-7981-A878BA471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25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38953331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D73AF-5A6A-4971-6A34-130A1C7F9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84242-D286-A0AA-2E90-D11D9141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WAZUH – Hvad skal vi bruge det til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F68E0-B8B9-F83B-B4A0-5CFE5F226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noProof="0" dirty="0"/>
              <a:t>Det kan mange ting og man kan bruge lang tid på det</a:t>
            </a:r>
          </a:p>
          <a:p>
            <a:r>
              <a:rPr lang="da-DK" dirty="0"/>
              <a:t>Fokus nu er ”basics”: </a:t>
            </a:r>
          </a:p>
          <a:p>
            <a:pPr lvl="2"/>
            <a:r>
              <a:rPr lang="da-DK" dirty="0"/>
              <a:t>Installer agent(er)</a:t>
            </a:r>
          </a:p>
          <a:p>
            <a:pPr lvl="2"/>
            <a:r>
              <a:rPr lang="da-DK" dirty="0"/>
              <a:t>Se at de(n) dukker op på dashboardet</a:t>
            </a:r>
          </a:p>
          <a:p>
            <a:pPr lvl="2"/>
            <a:r>
              <a:rPr lang="da-DK" dirty="0">
                <a:solidFill>
                  <a:srgbClr val="C00000"/>
                </a:solidFill>
              </a:rPr>
              <a:t>Få overblik over de (default) events der bliver genereret</a:t>
            </a:r>
          </a:p>
          <a:p>
            <a:pPr lvl="2"/>
            <a:r>
              <a:rPr lang="da-DK" dirty="0"/>
              <a:t>Skab selv events, f.eks SSH logon</a:t>
            </a:r>
          </a:p>
          <a:p>
            <a:pPr lvl="2"/>
            <a:r>
              <a:rPr lang="da-DK" dirty="0"/>
              <a:t>Konfigurer FIM (Fil integritets monitorering) og kontroller det virker</a:t>
            </a:r>
          </a:p>
          <a:p>
            <a:pPr lvl="2"/>
            <a:endParaRPr lang="da-DK" dirty="0"/>
          </a:p>
          <a:p>
            <a:r>
              <a:rPr lang="da-DK" dirty="0"/>
              <a:t>I eftermiddag skal IDS/IPS integreres med Wazuh:</a:t>
            </a:r>
          </a:p>
          <a:p>
            <a:pPr lvl="2"/>
            <a:r>
              <a:rPr lang="da-DK" dirty="0"/>
              <a:t>Vi kommer til at arbejde mere med det</a:t>
            </a:r>
          </a:p>
          <a:p>
            <a:endParaRPr lang="da-DK" noProof="0" dirty="0"/>
          </a:p>
          <a:p>
            <a:endParaRPr lang="da-DK" noProof="0" dirty="0"/>
          </a:p>
          <a:p>
            <a:endParaRPr lang="da-DK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75535-B0D1-2EEA-60F8-107CCBD9A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508FB-8ECA-94BD-49E5-7CBB39D4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D5029-6395-C7B4-AC01-EB1D5716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26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23911664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9B12D-511A-D532-600F-F1AD6EB7D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39DD3-0068-773B-29B0-6DCF73652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WAZUH – Hvad skal vi bruge det til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4AD42-C6A3-7AE2-65C7-7F8B19E07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I fremtiden? (evt. bonus opgaver): </a:t>
            </a:r>
          </a:p>
          <a:p>
            <a:pPr lvl="2"/>
            <a:r>
              <a:rPr lang="da-DK" dirty="0"/>
              <a:t>Konfigurere hvilke regler der skal bruges</a:t>
            </a:r>
          </a:p>
          <a:p>
            <a:pPr lvl="2"/>
            <a:r>
              <a:rPr lang="da-DK" dirty="0"/>
              <a:t>Styre regler fra serveren</a:t>
            </a:r>
          </a:p>
          <a:p>
            <a:pPr lvl="2"/>
            <a:r>
              <a:rPr lang="da-DK" dirty="0"/>
              <a:t>Lave custom regler</a:t>
            </a:r>
          </a:p>
          <a:p>
            <a:pPr lvl="2"/>
            <a:r>
              <a:rPr lang="da-DK" dirty="0"/>
              <a:t>Konfiguration af Automated Response</a:t>
            </a:r>
          </a:p>
          <a:p>
            <a:endParaRPr lang="da-DK" noProof="0" dirty="0"/>
          </a:p>
          <a:p>
            <a:endParaRPr lang="da-DK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D13E3-2632-44FA-5409-144BB5D3E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8FFF8-2FC6-E5FE-2036-7AD1C902E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42923-15BB-E89D-0B2F-B668048DE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27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12158541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A750E-6054-E618-0610-7053CE637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8EC85-48F9-A088-DFA0-E5CFC1291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Øvelser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5070D-F927-1330-06D9-B1C07A5A6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999" y="1205121"/>
            <a:ext cx="10923192" cy="4320000"/>
          </a:xfrm>
        </p:spPr>
        <p:txBody>
          <a:bodyPr/>
          <a:lstStyle/>
          <a:p>
            <a:r>
              <a:rPr lang="da-DK" noProof="0" dirty="0"/>
              <a:t>Følg instruktionerne i “Wazuh_SIEM_Introduktion_final”:</a:t>
            </a:r>
          </a:p>
          <a:p>
            <a:pPr lvl="2"/>
            <a:r>
              <a:rPr lang="da-DK" noProof="0" dirty="0">
                <a:hlinkClick r:id="rId2"/>
              </a:rPr>
              <a:t>https://github.com/alexandrainst/IU-kursus/tree/main/Kursus-3</a:t>
            </a:r>
            <a:endParaRPr lang="da-DK" noProof="0" dirty="0"/>
          </a:p>
          <a:p>
            <a:pPr lvl="2"/>
            <a:r>
              <a:rPr lang="da-DK" dirty="0"/>
              <a:t>(Forbind til serveren, installer en eller flere agenter og kontroller at det virker)</a:t>
            </a:r>
          </a:p>
          <a:p>
            <a:pPr lvl="2"/>
            <a:r>
              <a:rPr lang="da-DK" noProof="0" dirty="0"/>
              <a:t>Eksperimenter med forskellige avancerede funktioner, f.eks: FIM,</a:t>
            </a:r>
            <a:r>
              <a:rPr lang="da-DK" dirty="0"/>
              <a:t> hvilken information der findes på dashboardet</a:t>
            </a:r>
            <a:endParaRPr lang="da-DK" noProof="0" dirty="0"/>
          </a:p>
          <a:p>
            <a:endParaRPr lang="da-DK" noProof="0" dirty="0"/>
          </a:p>
          <a:p>
            <a:r>
              <a:rPr lang="da-DK" noProof="0" dirty="0"/>
              <a:t>Som sidst: Overvej hvor udførligt opgaverne er beskrevet – skal det være mere udførligt? Skal der være eksempler på custom regler, FIM eller andet?</a:t>
            </a:r>
          </a:p>
          <a:p>
            <a:endParaRPr lang="da-DK" noProof="0" dirty="0"/>
          </a:p>
          <a:p>
            <a:pPr marL="0" indent="0" algn="ctr">
              <a:buNone/>
            </a:pPr>
            <a:r>
              <a:rPr lang="da-DK" sz="3600" noProof="0" dirty="0"/>
              <a:t>Opsamling kl. 11.50</a:t>
            </a:r>
          </a:p>
          <a:p>
            <a:pPr marL="360000" lvl="2" indent="0">
              <a:buNone/>
            </a:pPr>
            <a:r>
              <a:rPr lang="da-DK" noProof="0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B29CA-F55A-C8DA-AD88-E6B41E41E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6801E-F1D3-3A22-267A-8C54B52F3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7B1CB-C14A-82FF-179E-F627B977C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28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22578405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A1693-1236-5C29-F5B7-F4B0801DE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04043BFF-A4F1-507B-AAFE-252FE67B8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8" y="390038"/>
            <a:ext cx="10584015" cy="553998"/>
          </a:xfrm>
        </p:spPr>
        <p:txBody>
          <a:bodyPr/>
          <a:lstStyle/>
          <a:p>
            <a:r>
              <a:rPr lang="da-DK" noProof="0" dirty="0">
                <a:latin typeface="Arial"/>
                <a:cs typeface="Arial"/>
              </a:rPr>
              <a:t>Agenda: Dag 1</a:t>
            </a:r>
            <a:endParaRPr lang="da-DK" noProof="0" dirty="0"/>
          </a:p>
        </p:txBody>
      </p:sp>
      <p:graphicFrame>
        <p:nvGraphicFramePr>
          <p:cNvPr id="12" name="Pladsholder til indhold 11">
            <a:extLst>
              <a:ext uri="{FF2B5EF4-FFF2-40B4-BE49-F238E27FC236}">
                <a16:creationId xmlns:a16="http://schemas.microsoft.com/office/drawing/2014/main" id="{04755203-BFC2-64CE-AB78-8165304BA7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1675180"/>
              </p:ext>
            </p:extLst>
          </p:nvPr>
        </p:nvGraphicFramePr>
        <p:xfrm>
          <a:off x="1245463" y="1025517"/>
          <a:ext cx="10238550" cy="5973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5249">
                  <a:extLst>
                    <a:ext uri="{9D8B030D-6E8A-4147-A177-3AD203B41FA5}">
                      <a16:colId xmlns:a16="http://schemas.microsoft.com/office/drawing/2014/main" val="3568212222"/>
                    </a:ext>
                  </a:extLst>
                </a:gridCol>
                <a:gridCol w="6200549">
                  <a:extLst>
                    <a:ext uri="{9D8B030D-6E8A-4147-A177-3AD203B41FA5}">
                      <a16:colId xmlns:a16="http://schemas.microsoft.com/office/drawing/2014/main" val="3991436401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648554971"/>
                    </a:ext>
                  </a:extLst>
                </a:gridCol>
              </a:tblGrid>
              <a:tr h="366284">
                <a:tc>
                  <a:txBody>
                    <a:bodyPr/>
                    <a:lstStyle/>
                    <a:p>
                      <a:r>
                        <a:rPr lang="da-DK" noProof="0" dirty="0"/>
                        <a:t>Tidspunkt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noProof="0" dirty="0"/>
                        <a:t>Emne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noProof="0" dirty="0"/>
                        <a:t>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083505"/>
                  </a:ext>
                </a:extLst>
              </a:tr>
              <a:tr h="372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 dirty="0"/>
                        <a:t>9.00-9.10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noProof="0" dirty="0"/>
                        <a:t>Plan for kursus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Oplæg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721731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 dirty="0"/>
                        <a:t>9.10-9.30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noProof="0" dirty="0"/>
                        <a:t>Introduktion til EUD Cyber 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noProof="0" dirty="0"/>
                        <a:t>Oplæg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949661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 dirty="0"/>
                        <a:t>9.30-10.20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EUD Cyber environment- Hands on (Opgave 0)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noProof="0" dirty="0"/>
                        <a:t>Logge på systemerne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noProof="0" dirty="0"/>
                        <a:t>Skabe hændelser og finde dem i relevante logfiler (lokalt)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Oplæg, øvelse + plenum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376553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 dirty="0"/>
                        <a:t>10.20-10.30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noProof="0" dirty="0"/>
                        <a:t>Pause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898247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10.30-12.00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noProof="0" dirty="0"/>
                        <a:t>SIEM og centraliseret logging: Wazuh</a:t>
                      </a:r>
                    </a:p>
                    <a:p>
                      <a:pPr marL="457200" marR="0" lvl="1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sz="1400" noProof="0" dirty="0"/>
                        <a:t>Konfigurere Wazuh og installere agenter</a:t>
                      </a:r>
                    </a:p>
                    <a:p>
                      <a:pPr marL="457200" marR="0" lvl="1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sz="1400" noProof="0" dirty="0"/>
                        <a:t>Skabe hændelse og overvåge dem centralt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Oplæg, øvelse + plenum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642171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12.00-12.45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Frokost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760828"/>
                  </a:ext>
                </a:extLst>
              </a:tr>
              <a:tr h="38656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12.45-14.15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IDS/IPS: Opnsense (og integration med Wazuh)</a:t>
                      </a:r>
                    </a:p>
                    <a:p>
                      <a:pPr marL="45720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noProof="0" dirty="0"/>
                        <a:t>Konfigurere IDS og IPS i Opnsense</a:t>
                      </a:r>
                    </a:p>
                    <a:p>
                      <a:pPr marL="45720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noProof="0" dirty="0"/>
                        <a:t>Observere alarmer og blokeringer i praksis</a:t>
                      </a:r>
                    </a:p>
                    <a:p>
                      <a:pPr marL="45720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noProof="0" dirty="0"/>
                        <a:t>Integrere Opnsense med Wazuh</a:t>
                      </a:r>
                      <a:endParaRPr lang="da-DK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Oplæg, øvelse + plenum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0355"/>
                  </a:ext>
                </a:extLst>
              </a:tr>
              <a:tr h="38656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a-DK" noProof="0" dirty="0"/>
                        <a:t>14.15-14.30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Pause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353634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 dirty="0"/>
                        <a:t>14.30-16.00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noProof="0" dirty="0"/>
                        <a:t>Authentication, Authorization and Accounting: RADIUS</a:t>
                      </a:r>
                    </a:p>
                    <a:p>
                      <a:pPr marL="457200" marR="0" lvl="1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sz="1400" noProof="0" dirty="0"/>
                        <a:t>Konfigurere central authentication på en RADIUS server</a:t>
                      </a:r>
                    </a:p>
                    <a:p>
                      <a:pPr marL="457200" marR="0" lvl="1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sz="1400" noProof="0" dirty="0"/>
                        <a:t>Konfigurere Opnsense til at anvende RADIUS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Oplæg, øvelse + plenum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879610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16.00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noProof="0" dirty="0"/>
                        <a:t>Slut for i 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767376"/>
                  </a:ext>
                </a:extLst>
              </a:tr>
            </a:tbl>
          </a:graphicData>
        </a:graphic>
      </p:graphicFrame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0002CD1-BE97-9BDB-243B-DD666AAF3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7D938-B50E-D842-AEDC-C3B711F6BEE0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1622C7D-4D7E-8B1D-5592-1EF9AC52F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4836A027-DB89-9EAE-DB44-22C3AFB4A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29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30940697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0B23E-0BED-3977-D887-C5965D7A3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DA43B-372D-A906-798C-1D4F850C1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</p:spPr>
        <p:txBody>
          <a:bodyPr/>
          <a:lstStyle/>
          <a:p>
            <a:r>
              <a:rPr lang="da-DK" noProof="0" dirty="0"/>
              <a:t>IDS/IPS</a:t>
            </a:r>
          </a:p>
        </p:txBody>
      </p:sp>
    </p:spTree>
    <p:extLst>
      <p:ext uri="{BB962C8B-B14F-4D97-AF65-F5344CB8AC3E}">
        <p14:creationId xmlns:p14="http://schemas.microsoft.com/office/powerpoint/2010/main" val="20122412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264C7-22B6-44DC-A1FF-61F7AFE00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614C2-CA27-11BD-368F-8C84B6684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Hvad er IDS og 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1F7F2-DA63-AB61-A9C9-C240EF6B4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000" y="1620000"/>
            <a:ext cx="6973465" cy="4320000"/>
          </a:xfrm>
        </p:spPr>
        <p:txBody>
          <a:bodyPr/>
          <a:lstStyle/>
          <a:p>
            <a:r>
              <a:rPr lang="da-DK" noProof="0" dirty="0"/>
              <a:t>IDS – Intrusion Detection System – Log og monitorering</a:t>
            </a:r>
          </a:p>
          <a:p>
            <a:pPr lvl="2"/>
            <a:r>
              <a:rPr lang="da-DK" noProof="0" dirty="0"/>
              <a:t>Kig efter tegn på angreb og alarmér</a:t>
            </a:r>
          </a:p>
          <a:p>
            <a:r>
              <a:rPr lang="da-DK" noProof="0" dirty="0"/>
              <a:t>IPS – Intrusion Prevention System</a:t>
            </a:r>
          </a:p>
          <a:p>
            <a:pPr lvl="2"/>
            <a:r>
              <a:rPr lang="da-DK" noProof="0" dirty="0"/>
              <a:t>Kig efter tegn på angreb og forsøg at bloker angrebet</a:t>
            </a:r>
          </a:p>
          <a:p>
            <a:pPr lvl="2"/>
            <a:endParaRPr lang="da-DK" noProof="0" dirty="0"/>
          </a:p>
          <a:p>
            <a:endParaRPr lang="da-DK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27061-C386-D8EE-F5E7-D5102262C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C5F29-88D5-2287-8935-CCC577BFC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89BAB-A203-D5AC-2232-0B9C03B6D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31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21992031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B9EA7-5E0F-2F13-39B2-BBB5529C1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5A7FF-71EA-4871-D18C-877B2D85A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900000"/>
            <a:ext cx="4790953" cy="553998"/>
          </a:xfrm>
        </p:spPr>
        <p:txBody>
          <a:bodyPr/>
          <a:lstStyle/>
          <a:p>
            <a:r>
              <a:rPr lang="da-DK" noProof="0" dirty="0"/>
              <a:t>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67A1E-D039-749B-CB8A-4D3CFA637B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noProof="0" dirty="0"/>
          </a:p>
          <a:p>
            <a:endParaRPr lang="da-DK" sz="2800" noProof="0" dirty="0"/>
          </a:p>
          <a:p>
            <a:endParaRPr lang="da-DK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EB305-C189-11A9-8E86-D0A920B7878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A8B48-6BC2-829A-1D8F-01078179F6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0BF97-F5CE-AC26-4EDD-DA162D9631D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32</a:t>
            </a:fld>
            <a:endParaRPr lang="da-DK" noProof="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9F2C20-70B9-AE15-BCD4-C6EB0A31F5C9}"/>
              </a:ext>
            </a:extLst>
          </p:cNvPr>
          <p:cNvSpPr txBox="1">
            <a:spLocks/>
          </p:cNvSpPr>
          <p:nvPr/>
        </p:nvSpPr>
        <p:spPr>
          <a:xfrm>
            <a:off x="900000" y="1620000"/>
            <a:ext cx="10439999" cy="4320000"/>
          </a:xfrm>
          <a:prstGeom prst="rect">
            <a:avLst/>
          </a:prstGeom>
        </p:spPr>
        <p:txBody>
          <a:bodyPr/>
          <a:lstStyle>
            <a:lvl1pPr marL="36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327538" indent="-360000" algn="l" defTabSz="457200" rtl="0" eaLnBrk="1" latinLnBrk="0" hangingPunct="1">
              <a:lnSpc>
                <a:spcPct val="114000"/>
              </a:lnSpc>
              <a:spcBef>
                <a:spcPts val="1176"/>
              </a:spcBef>
              <a:buClr>
                <a:srgbClr val="D76432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72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3pPr>
            <a:lvl4pPr marL="108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4pPr>
            <a:lvl5pPr marL="0" indent="0" algn="l" defTabSz="457200" rtl="0" eaLnBrk="1" latinLnBrk="0" hangingPunct="1">
              <a:lnSpc>
                <a:spcPct val="114000"/>
              </a:lnSpc>
              <a:spcBef>
                <a:spcPct val="20000"/>
              </a:spcBef>
              <a:buClr>
                <a:srgbClr val="D76432"/>
              </a:buClr>
              <a:buFont typeface="Arial" panose="020B0604020202020204" pitchFamily="34" charset="0"/>
              <a:buNone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noProof="0" dirty="0"/>
              <a:t>Ofte integreret med SIEM (Security Information and Event Management) systemer</a:t>
            </a:r>
          </a:p>
          <a:p>
            <a:r>
              <a:rPr lang="da-DK" noProof="0" dirty="0"/>
              <a:t>Rent passivt - Vi standser ikke ”angrebet”</a:t>
            </a:r>
          </a:p>
          <a:p>
            <a:pPr lvl="2"/>
            <a:r>
              <a:rPr lang="da-DK" noProof="0" dirty="0"/>
              <a:t>Almindelig traffik/funktionalitet bliver ikke påvirket, men vi kan heller ikke blokere angreb</a:t>
            </a:r>
          </a:p>
          <a:p>
            <a:endParaRPr lang="da-DK" b="1" noProof="0" dirty="0"/>
          </a:p>
          <a:p>
            <a:r>
              <a:rPr lang="da-DK" noProof="0" dirty="0"/>
              <a:t>To typer IDS/IPS:</a:t>
            </a:r>
          </a:p>
          <a:p>
            <a:pPr lvl="2"/>
            <a:r>
              <a:rPr lang="da-DK" b="1" noProof="0" dirty="0"/>
              <a:t>Network Intrusion Detection/Protection System (NIDS/NIPS)</a:t>
            </a:r>
          </a:p>
          <a:p>
            <a:pPr lvl="2"/>
            <a:r>
              <a:rPr lang="da-DK" noProof="0" dirty="0"/>
              <a:t>Host Intrusion Detection/Protection System(HIDS/HIPS) –Wazuh? </a:t>
            </a:r>
          </a:p>
        </p:txBody>
      </p:sp>
    </p:spTree>
    <p:extLst>
      <p:ext uri="{BB962C8B-B14F-4D97-AF65-F5344CB8AC3E}">
        <p14:creationId xmlns:p14="http://schemas.microsoft.com/office/powerpoint/2010/main" val="14495428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F8E5D-1EE2-C956-6CFD-DDE3DBE72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3F528-0DF6-E893-F024-DD8672765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900000"/>
            <a:ext cx="4790953" cy="553998"/>
          </a:xfrm>
        </p:spPr>
        <p:txBody>
          <a:bodyPr/>
          <a:lstStyle/>
          <a:p>
            <a:r>
              <a:rPr lang="da-DK" noProof="0" dirty="0"/>
              <a:t>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67D6D-0D89-D1F7-2D6F-9F3FC6704A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noProof="0" dirty="0"/>
          </a:p>
          <a:p>
            <a:endParaRPr lang="da-DK" sz="2800" noProof="0" dirty="0"/>
          </a:p>
          <a:p>
            <a:endParaRPr lang="da-DK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35688-C7D7-CDD0-096E-B5FFC266BB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0D098-43B8-ADCD-62D8-48D05F637F2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4D735-370E-2000-D58A-669BEEDCD93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33</a:t>
            </a:fld>
            <a:endParaRPr lang="da-DK" noProof="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1A48F2-BA25-2250-40EB-5B93CD6D174C}"/>
              </a:ext>
            </a:extLst>
          </p:cNvPr>
          <p:cNvSpPr txBox="1">
            <a:spLocks/>
          </p:cNvSpPr>
          <p:nvPr/>
        </p:nvSpPr>
        <p:spPr>
          <a:xfrm>
            <a:off x="900000" y="1620000"/>
            <a:ext cx="10439999" cy="4320000"/>
          </a:xfrm>
          <a:prstGeom prst="rect">
            <a:avLst/>
          </a:prstGeom>
        </p:spPr>
        <p:txBody>
          <a:bodyPr/>
          <a:lstStyle>
            <a:lvl1pPr marL="36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327538" indent="-360000" algn="l" defTabSz="457200" rtl="0" eaLnBrk="1" latinLnBrk="0" hangingPunct="1">
              <a:lnSpc>
                <a:spcPct val="114000"/>
              </a:lnSpc>
              <a:spcBef>
                <a:spcPts val="1176"/>
              </a:spcBef>
              <a:buClr>
                <a:srgbClr val="D76432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72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3pPr>
            <a:lvl4pPr marL="108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4pPr>
            <a:lvl5pPr marL="0" indent="0" algn="l" defTabSz="457200" rtl="0" eaLnBrk="1" latinLnBrk="0" hangingPunct="1">
              <a:lnSpc>
                <a:spcPct val="114000"/>
              </a:lnSpc>
              <a:spcBef>
                <a:spcPct val="20000"/>
              </a:spcBef>
              <a:buClr>
                <a:srgbClr val="D76432"/>
              </a:buClr>
              <a:buFont typeface="Arial" panose="020B0604020202020204" pitchFamily="34" charset="0"/>
              <a:buNone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noProof="0" dirty="0"/>
              <a:t>”Bare” en IDS med udvidede beføjelser</a:t>
            </a:r>
          </a:p>
          <a:p>
            <a:pPr lvl="2"/>
            <a:r>
              <a:rPr lang="da-DK" noProof="0" dirty="0"/>
              <a:t>”IDS delen” opdager tegn på angreb</a:t>
            </a:r>
          </a:p>
          <a:p>
            <a:pPr lvl="2"/>
            <a:r>
              <a:rPr lang="da-DK" noProof="0" dirty="0"/>
              <a:t>”IPS delen” blokerer den suspekte traffik</a:t>
            </a:r>
          </a:p>
          <a:p>
            <a:r>
              <a:rPr lang="da-DK" noProof="0" dirty="0"/>
              <a:t>Aktivt - Vi kan (automatisk) blokere angreb</a:t>
            </a:r>
          </a:p>
          <a:p>
            <a:pPr lvl="2"/>
            <a:r>
              <a:rPr lang="da-DK" noProof="0" dirty="0"/>
              <a:t>Men risikerer også at blokere legitim traffik </a:t>
            </a:r>
          </a:p>
        </p:txBody>
      </p:sp>
    </p:spTree>
    <p:extLst>
      <p:ext uri="{BB962C8B-B14F-4D97-AF65-F5344CB8AC3E}">
        <p14:creationId xmlns:p14="http://schemas.microsoft.com/office/powerpoint/2010/main" val="13695351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60467-E70F-7C4C-B782-47396088F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3B8BB-40FB-73C5-8948-35F84926E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900000"/>
            <a:ext cx="5202820" cy="492443"/>
          </a:xfrm>
        </p:spPr>
        <p:txBody>
          <a:bodyPr/>
          <a:lstStyle/>
          <a:p>
            <a:r>
              <a:rPr lang="da-DK" sz="3200" noProof="0" dirty="0"/>
              <a:t>Opmærksomhedspunkter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567DA-A9A6-0B0C-1D6F-FC592ACD53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noProof="0" dirty="0"/>
          </a:p>
          <a:p>
            <a:endParaRPr lang="da-DK" sz="2800" noProof="0" dirty="0"/>
          </a:p>
          <a:p>
            <a:endParaRPr lang="da-DK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918F3-9D38-CA47-5724-8F8AA13A2EE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B3429-F8ED-8784-5444-76818DDD57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12102-BCA1-8ACD-7F22-12B39606FD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34</a:t>
            </a:fld>
            <a:endParaRPr lang="da-DK" noProof="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0E5537-1BB7-E23F-C2DD-FA7AEABFDE0D}"/>
              </a:ext>
            </a:extLst>
          </p:cNvPr>
          <p:cNvSpPr txBox="1">
            <a:spLocks/>
          </p:cNvSpPr>
          <p:nvPr/>
        </p:nvSpPr>
        <p:spPr>
          <a:xfrm>
            <a:off x="5537145" y="2132129"/>
            <a:ext cx="6195236" cy="4320000"/>
          </a:xfrm>
          <a:prstGeom prst="rect">
            <a:avLst/>
          </a:prstGeom>
        </p:spPr>
        <p:txBody>
          <a:bodyPr/>
          <a:lstStyle>
            <a:lvl1pPr marL="36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327538" indent="-360000" algn="l" defTabSz="457200" rtl="0" eaLnBrk="1" latinLnBrk="0" hangingPunct="1">
              <a:lnSpc>
                <a:spcPct val="114000"/>
              </a:lnSpc>
              <a:spcBef>
                <a:spcPts val="1176"/>
              </a:spcBef>
              <a:buClr>
                <a:srgbClr val="D76432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72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3pPr>
            <a:lvl4pPr marL="108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4pPr>
            <a:lvl5pPr marL="0" indent="0" algn="l" defTabSz="457200" rtl="0" eaLnBrk="1" latinLnBrk="0" hangingPunct="1">
              <a:lnSpc>
                <a:spcPct val="114000"/>
              </a:lnSpc>
              <a:spcBef>
                <a:spcPct val="20000"/>
              </a:spcBef>
              <a:buClr>
                <a:srgbClr val="D76432"/>
              </a:buClr>
              <a:buFont typeface="Arial" panose="020B0604020202020204" pitchFamily="34" charset="0"/>
              <a:buNone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noProof="0" dirty="0"/>
              <a:t>IDS alarmer kræver viden at tolke korrekt</a:t>
            </a:r>
          </a:p>
          <a:p>
            <a:r>
              <a:rPr lang="da-DK" noProof="0" dirty="0"/>
              <a:t>IPS kræver viden at konfigurere korrekt</a:t>
            </a:r>
          </a:p>
          <a:p>
            <a:endParaRPr lang="da-DK" noProof="0" dirty="0"/>
          </a:p>
          <a:p>
            <a:r>
              <a:rPr lang="da-DK" noProof="0" dirty="0"/>
              <a:t>IPS reagerer hurtigere på angreb, men kan potentielt også blokere legitim traffik</a:t>
            </a:r>
          </a:p>
          <a:p>
            <a:endParaRPr lang="da-DK" noProof="0" dirty="0"/>
          </a:p>
          <a:p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25429486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75B02-E6EF-2C24-CF81-620D70A62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1515C-1A7D-2E2B-28B3-EFDC90268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900000"/>
            <a:ext cx="5202820" cy="984885"/>
          </a:xfrm>
        </p:spPr>
        <p:txBody>
          <a:bodyPr/>
          <a:lstStyle/>
          <a:p>
            <a:r>
              <a:rPr lang="da-DK" sz="3200" noProof="0" dirty="0"/>
              <a:t>Opmærksomhedspunkter placering i topologi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F815E-05AA-0299-3F47-C69D5305ED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88000" y="900000"/>
            <a:ext cx="5776821" cy="5205378"/>
          </a:xfrm>
        </p:spPr>
        <p:txBody>
          <a:bodyPr/>
          <a:lstStyle/>
          <a:p>
            <a:r>
              <a:rPr lang="da-DK" noProof="0" dirty="0"/>
              <a:t>IPS </a:t>
            </a:r>
            <a:r>
              <a:rPr lang="da-DK" b="1" noProof="0" dirty="0"/>
              <a:t>skal</a:t>
            </a:r>
            <a:r>
              <a:rPr lang="da-DK" noProof="0" dirty="0"/>
              <a:t> placeres inline i netværket</a:t>
            </a:r>
          </a:p>
          <a:p>
            <a:pPr lvl="1"/>
            <a:r>
              <a:rPr lang="da-DK" noProof="0" dirty="0"/>
              <a:t>Den kan kun blokere traffik der passerer</a:t>
            </a:r>
          </a:p>
          <a:p>
            <a:pPr lvl="1"/>
            <a:endParaRPr lang="da-DK" noProof="0" dirty="0"/>
          </a:p>
          <a:p>
            <a:r>
              <a:rPr lang="da-DK" noProof="0" dirty="0"/>
              <a:t>IDS er mere fleksibel</a:t>
            </a:r>
          </a:p>
          <a:p>
            <a:pPr lvl="1"/>
            <a:r>
              <a:rPr lang="da-DK" noProof="0" dirty="0"/>
              <a:t>Men kan kun se forbunden traffik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AB7F5-986E-9398-39FC-F29B4C7F99D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8FC34-18AC-96DC-FEB5-960A8E8FBA8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4A1E6-5729-4EC9-A918-EA1AB2CA6AA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35</a:t>
            </a:fld>
            <a:endParaRPr lang="da-DK" noProof="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99BE1A-5744-918C-6797-5834B71937A6}"/>
              </a:ext>
            </a:extLst>
          </p:cNvPr>
          <p:cNvSpPr txBox="1">
            <a:spLocks/>
          </p:cNvSpPr>
          <p:nvPr/>
        </p:nvSpPr>
        <p:spPr>
          <a:xfrm>
            <a:off x="5433181" y="617805"/>
            <a:ext cx="6342743" cy="4320000"/>
          </a:xfrm>
          <a:prstGeom prst="rect">
            <a:avLst/>
          </a:prstGeom>
        </p:spPr>
        <p:txBody>
          <a:bodyPr/>
          <a:lstStyle>
            <a:lvl1pPr marL="36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327538" indent="-360000" algn="l" defTabSz="457200" rtl="0" eaLnBrk="1" latinLnBrk="0" hangingPunct="1">
              <a:lnSpc>
                <a:spcPct val="114000"/>
              </a:lnSpc>
              <a:spcBef>
                <a:spcPts val="1176"/>
              </a:spcBef>
              <a:buClr>
                <a:srgbClr val="D76432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72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3pPr>
            <a:lvl4pPr marL="108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4pPr>
            <a:lvl5pPr marL="0" indent="0" algn="l" defTabSz="457200" rtl="0" eaLnBrk="1" latinLnBrk="0" hangingPunct="1">
              <a:lnSpc>
                <a:spcPct val="114000"/>
              </a:lnSpc>
              <a:spcBef>
                <a:spcPct val="20000"/>
              </a:spcBef>
              <a:buClr>
                <a:srgbClr val="D76432"/>
              </a:buClr>
              <a:buFont typeface="Arial" panose="020B0604020202020204" pitchFamily="34" charset="0"/>
              <a:buNone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 noProof="0" dirty="0"/>
          </a:p>
        </p:txBody>
      </p:sp>
      <p:pic>
        <p:nvPicPr>
          <p:cNvPr id="1026" name="Picture 2" descr="network diagram">
            <a:extLst>
              <a:ext uri="{FF2B5EF4-FFF2-40B4-BE49-F238E27FC236}">
                <a16:creationId xmlns:a16="http://schemas.microsoft.com/office/drawing/2014/main" id="{9CE7730C-67C5-8740-EB00-73F7DBCD3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345" y="2220710"/>
            <a:ext cx="4259979" cy="2129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599FFC53-CAA1-C361-BB67-EFF801547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128851"/>
            <a:ext cx="51435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03012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73787-1B0D-3444-F7AF-3D6A58F5A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0BF25-7093-7352-FC7D-DFDEA3028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Hvordan fungerer (grundlæggende) IDS?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67A6C-32FB-6C63-40A9-894C55C23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noProof="0" dirty="0"/>
              <a:t>Kig efter signaturer på / regler for angreb f.eks:</a:t>
            </a:r>
          </a:p>
          <a:p>
            <a:pPr lvl="2"/>
            <a:r>
              <a:rPr lang="da-DK" noProof="0" dirty="0"/>
              <a:t>Mange enkelt pakker til forskellige porte/IP’er indenfor kort tid -&gt; Scanning</a:t>
            </a:r>
          </a:p>
          <a:p>
            <a:pPr lvl="2"/>
            <a:r>
              <a:rPr lang="da-DK" noProof="0" dirty="0"/>
              <a:t>Mange pakker/forbindelser til en maskine fra mange kilder -&gt; DDoS</a:t>
            </a:r>
          </a:p>
          <a:p>
            <a:pPr lvl="2"/>
            <a:r>
              <a:rPr lang="da-DK" noProof="0" dirty="0"/>
              <a:t>Bestemt payload pakke -&gt; Konkret sårbarhed</a:t>
            </a:r>
          </a:p>
          <a:p>
            <a:endParaRPr lang="da-DK" noProof="0" dirty="0"/>
          </a:p>
          <a:p>
            <a:r>
              <a:rPr lang="da-DK" noProof="0" dirty="0"/>
              <a:t>Relativt statisk</a:t>
            </a:r>
          </a:p>
          <a:p>
            <a:pPr lvl="2"/>
            <a:r>
              <a:rPr lang="da-DK" noProof="0" dirty="0"/>
              <a:t>Angrebet skal være af en kendt type for at blive opdaget</a:t>
            </a:r>
          </a:p>
          <a:p>
            <a:pPr lvl="2"/>
            <a:endParaRPr lang="da-DK" noProof="0" dirty="0"/>
          </a:p>
          <a:p>
            <a:endParaRPr lang="da-DK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8DE72-DFEE-2F72-1E16-F374DCDEB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7022E-0A4B-4D69-4775-6A40BE98F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FF316-83ED-F829-B99B-6125E06F2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36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4610126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B8E98-819A-5B40-3BB5-F67058F00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86BD1-E7F4-CE78-A23B-3C4FB0C68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Hvordan fungerer IDS også?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5FDE6-262C-A134-971E-56F141B7C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001" y="1620000"/>
            <a:ext cx="5820114" cy="4320000"/>
          </a:xfrm>
        </p:spPr>
        <p:txBody>
          <a:bodyPr/>
          <a:lstStyle/>
          <a:p>
            <a:r>
              <a:rPr lang="da-DK" noProof="0" dirty="0"/>
              <a:t>Kig efter anderledes opførsel (anomali)</a:t>
            </a:r>
          </a:p>
          <a:p>
            <a:pPr lvl="2"/>
            <a:r>
              <a:rPr lang="da-DK" noProof="0" dirty="0"/>
              <a:t>Vi har en ”baseline” og rapporterer afvigelser</a:t>
            </a:r>
          </a:p>
          <a:p>
            <a:pPr lvl="2"/>
            <a:r>
              <a:rPr lang="da-DK" noProof="0" dirty="0"/>
              <a:t>Kan være AI baseret </a:t>
            </a:r>
          </a:p>
          <a:p>
            <a:endParaRPr lang="da-DK" noProof="0" dirty="0"/>
          </a:p>
          <a:p>
            <a:r>
              <a:rPr lang="da-DK" noProof="0" dirty="0"/>
              <a:t>Opdager nye typer angreb</a:t>
            </a:r>
          </a:p>
          <a:p>
            <a:pPr lvl="2"/>
            <a:r>
              <a:rPr lang="da-DK" noProof="0" dirty="0"/>
              <a:t>Men større risiko for </a:t>
            </a:r>
            <a:r>
              <a:rPr lang="da-DK" b="1" i="1" noProof="0" dirty="0"/>
              <a:t>falske positiver</a:t>
            </a:r>
          </a:p>
          <a:p>
            <a:pPr lvl="2"/>
            <a:r>
              <a:rPr lang="da-DK" sz="1800" noProof="0" dirty="0"/>
              <a:t>* Man kan anvende anomali detection sammen med regler og mindske falske negativer</a:t>
            </a:r>
            <a:endParaRPr lang="da-DK" noProof="0" dirty="0"/>
          </a:p>
          <a:p>
            <a:endParaRPr lang="da-DK" noProof="0" dirty="0"/>
          </a:p>
          <a:p>
            <a:pPr lvl="2"/>
            <a:endParaRPr lang="da-DK" noProof="0" dirty="0"/>
          </a:p>
          <a:p>
            <a:pPr lvl="2"/>
            <a:endParaRPr lang="da-DK" noProof="0" dirty="0"/>
          </a:p>
          <a:p>
            <a:endParaRPr lang="da-DK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DFB40-65F8-6CB2-59EC-4CC8A49A9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C538B-58FE-38BE-2C33-D04A47A72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C12C-E5C6-25EF-0C8D-7B355C741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37</a:t>
            </a:fld>
            <a:endParaRPr lang="da-DK" noProof="0" dirty="0"/>
          </a:p>
        </p:txBody>
      </p:sp>
      <p:pic>
        <p:nvPicPr>
          <p:cNvPr id="2050" name="Picture 2" descr="False Positive vs. False Negative">
            <a:extLst>
              <a:ext uri="{FF2B5EF4-FFF2-40B4-BE49-F238E27FC236}">
                <a16:creationId xmlns:a16="http://schemas.microsoft.com/office/drawing/2014/main" id="{A692B413-7921-F416-397F-1FBE122E3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7719" y="2422676"/>
            <a:ext cx="5331936" cy="3311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30307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8AFA2-77A5-E24C-6A35-1D0E3C404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FD936-7DB3-04D1-68C3-E1ABFB1CF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9" y="540000"/>
            <a:ext cx="10440000" cy="553998"/>
          </a:xfrm>
        </p:spPr>
        <p:txBody>
          <a:bodyPr/>
          <a:lstStyle/>
          <a:p>
            <a:r>
              <a:rPr lang="da-DK" noProof="0" dirty="0"/>
              <a:t>Mere information = Bedre resultater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D6558-1045-2254-532A-ADE7C47E5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noProof="0" dirty="0"/>
              <a:t>Moderne IDS kan også kigge på indholdet i kommunikationen</a:t>
            </a:r>
          </a:p>
          <a:p>
            <a:pPr lvl="2"/>
            <a:r>
              <a:rPr lang="da-DK" noProof="0" dirty="0"/>
              <a:t>Bliver der sendt malware?</a:t>
            </a:r>
          </a:p>
          <a:p>
            <a:pPr lvl="2"/>
            <a:r>
              <a:rPr lang="da-DK" noProof="0" dirty="0"/>
              <a:t>Ligner det phishing?</a:t>
            </a:r>
          </a:p>
          <a:p>
            <a:pPr lvl="2"/>
            <a:r>
              <a:rPr lang="da-DK" noProof="0" dirty="0"/>
              <a:t>Payload til en exploit?</a:t>
            </a:r>
          </a:p>
          <a:p>
            <a:pPr lvl="2"/>
            <a:r>
              <a:rPr lang="da-DK" noProof="0" dirty="0"/>
              <a:t>Hackede brugerkonti?</a:t>
            </a:r>
          </a:p>
          <a:p>
            <a:endParaRPr lang="da-DK" noProof="0" dirty="0"/>
          </a:p>
          <a:p>
            <a:r>
              <a:rPr lang="da-DK" noProof="0" dirty="0"/>
              <a:t>Kryptering kan være problematisk</a:t>
            </a:r>
          </a:p>
          <a:p>
            <a:pPr lvl="2"/>
            <a:endParaRPr lang="da-DK" noProof="0" dirty="0"/>
          </a:p>
          <a:p>
            <a:endParaRPr lang="da-DK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BBD0D-7B54-9C43-0BB1-0B7C438D2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243D2-393F-50F9-6BDD-50446F46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13DCC-0351-8FA9-DDB0-EE67B2727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38</a:t>
            </a:fld>
            <a:endParaRPr lang="da-DK" noProof="0" dirty="0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965BFB83-B39A-B61D-5C8E-4274F64B9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516" y="2205390"/>
            <a:ext cx="5830114" cy="695422"/>
          </a:xfrm>
          <a:prstGeom prst="rect">
            <a:avLst/>
          </a:prstGeom>
        </p:spPr>
      </p:pic>
      <p:pic>
        <p:nvPicPr>
          <p:cNvPr id="4098" name="Picture 2" descr="Pas på phishing-mails">
            <a:extLst>
              <a:ext uri="{FF2B5EF4-FFF2-40B4-BE49-F238E27FC236}">
                <a16:creationId xmlns:a16="http://schemas.microsoft.com/office/drawing/2014/main" id="{BC767FE6-1932-47C0-3959-DEADC3C81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266" y="3031956"/>
            <a:ext cx="4306903" cy="3047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9808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D3C85-B26C-04B4-6698-BD92AF390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53A60-B09E-F3C0-F311-DFC35E6F6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</p:spPr>
        <p:txBody>
          <a:bodyPr/>
          <a:lstStyle/>
          <a:p>
            <a:r>
              <a:rPr lang="da-DK" noProof="0" dirty="0"/>
              <a:t>Øvelse</a:t>
            </a:r>
          </a:p>
        </p:txBody>
      </p:sp>
    </p:spTree>
    <p:extLst>
      <p:ext uri="{BB962C8B-B14F-4D97-AF65-F5344CB8AC3E}">
        <p14:creationId xmlns:p14="http://schemas.microsoft.com/office/powerpoint/2010/main" val="21612565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4721E-935B-B4AB-CF9D-50CB6D996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918A8-B1A5-5807-2CF1-45A4D6C89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Øvelser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F2191-8932-377E-FFDA-91F1A6CD8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999" y="1205121"/>
            <a:ext cx="10923192" cy="4320000"/>
          </a:xfrm>
        </p:spPr>
        <p:txBody>
          <a:bodyPr/>
          <a:lstStyle/>
          <a:p>
            <a:r>
              <a:rPr lang="da-DK" dirty="0"/>
              <a:t>Følg instruktionerne i “IDS-IPS”:</a:t>
            </a:r>
          </a:p>
          <a:p>
            <a:pPr lvl="2"/>
            <a:r>
              <a:rPr lang="da-DK" dirty="0">
                <a:hlinkClick r:id="rId2"/>
              </a:rPr>
              <a:t>https://github.com/alexandrainst/IU-kursus/tree/main/Kursus-3</a:t>
            </a:r>
            <a:endParaRPr lang="da-DK" dirty="0"/>
          </a:p>
          <a:p>
            <a:pPr lvl="2"/>
            <a:r>
              <a:rPr lang="da-DK" dirty="0"/>
              <a:t>(implementere IDS/IPS baseret på Suricata og Opnsense, integrere med Wazuh,)</a:t>
            </a:r>
          </a:p>
          <a:p>
            <a:r>
              <a:rPr lang="da-DK" dirty="0"/>
              <a:t>På Kali ligger nogle angreb (Opgave 4/5), som løbende kan anvendes for at kontrollere at IDS/IPS virker. De kan evt. køres allerede efter opgave 2.</a:t>
            </a:r>
          </a:p>
          <a:p>
            <a:endParaRPr lang="da-DK" dirty="0"/>
          </a:p>
          <a:p>
            <a:r>
              <a:rPr lang="da-DK" dirty="0"/>
              <a:t>”Bonus opgave”:</a:t>
            </a:r>
          </a:p>
          <a:p>
            <a:pPr lvl="2"/>
            <a:r>
              <a:rPr lang="da-DK" dirty="0"/>
              <a:t>Opgave 8-9-10 er ikke færdigt testet. Opgaverne illustrerer hvordan IPS skal sidde inline i topologien og hvordan IDS kan bruge en mirror port</a:t>
            </a:r>
            <a:endParaRPr lang="da-DK" noProof="0" dirty="0"/>
          </a:p>
          <a:p>
            <a:pPr marL="0" indent="0" algn="ctr">
              <a:buNone/>
            </a:pPr>
            <a:r>
              <a:rPr lang="da-DK" sz="3600" noProof="0" dirty="0"/>
              <a:t>Opsamling kl. 14.00</a:t>
            </a:r>
          </a:p>
          <a:p>
            <a:pPr marL="360000" lvl="2" indent="0">
              <a:buNone/>
            </a:pPr>
            <a:r>
              <a:rPr lang="da-DK" noProof="0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9E22D-BDE3-3550-92E3-FCEC5A467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7BA97-BBBD-C66F-63E7-C1750C514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B8F81-4AF2-F853-7543-66A8B5C59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40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10779878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DC8F6-BED2-49AE-4563-F4F25B660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9147BE6A-9623-A45F-D050-FBC48D9F3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8" y="390038"/>
            <a:ext cx="10584015" cy="553998"/>
          </a:xfrm>
        </p:spPr>
        <p:txBody>
          <a:bodyPr/>
          <a:lstStyle/>
          <a:p>
            <a:r>
              <a:rPr lang="da-DK" noProof="0" dirty="0">
                <a:latin typeface="Arial"/>
                <a:cs typeface="Arial"/>
              </a:rPr>
              <a:t>Agenda: Dag 1</a:t>
            </a:r>
            <a:endParaRPr lang="da-DK" noProof="0" dirty="0"/>
          </a:p>
        </p:txBody>
      </p:sp>
      <p:graphicFrame>
        <p:nvGraphicFramePr>
          <p:cNvPr id="12" name="Pladsholder til indhold 11">
            <a:extLst>
              <a:ext uri="{FF2B5EF4-FFF2-40B4-BE49-F238E27FC236}">
                <a16:creationId xmlns:a16="http://schemas.microsoft.com/office/drawing/2014/main" id="{AA138DBE-4539-CCE2-2F32-3DD7BDA15F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0872421"/>
              </p:ext>
            </p:extLst>
          </p:nvPr>
        </p:nvGraphicFramePr>
        <p:xfrm>
          <a:off x="1245463" y="1025517"/>
          <a:ext cx="10238550" cy="5973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5249">
                  <a:extLst>
                    <a:ext uri="{9D8B030D-6E8A-4147-A177-3AD203B41FA5}">
                      <a16:colId xmlns:a16="http://schemas.microsoft.com/office/drawing/2014/main" val="3568212222"/>
                    </a:ext>
                  </a:extLst>
                </a:gridCol>
                <a:gridCol w="6200549">
                  <a:extLst>
                    <a:ext uri="{9D8B030D-6E8A-4147-A177-3AD203B41FA5}">
                      <a16:colId xmlns:a16="http://schemas.microsoft.com/office/drawing/2014/main" val="3991436401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648554971"/>
                    </a:ext>
                  </a:extLst>
                </a:gridCol>
              </a:tblGrid>
              <a:tr h="366284">
                <a:tc>
                  <a:txBody>
                    <a:bodyPr/>
                    <a:lstStyle/>
                    <a:p>
                      <a:r>
                        <a:rPr lang="da-DK" noProof="0" dirty="0"/>
                        <a:t>Tidspunkt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noProof="0" dirty="0"/>
                        <a:t>Emne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noProof="0" dirty="0"/>
                        <a:t>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083505"/>
                  </a:ext>
                </a:extLst>
              </a:tr>
              <a:tr h="372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 dirty="0"/>
                        <a:t>9.00-9.10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noProof="0" dirty="0"/>
                        <a:t>Plan for kursus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Oplæg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721731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 dirty="0"/>
                        <a:t>9.10-9.30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noProof="0" dirty="0"/>
                        <a:t>Introduktion til EUD Cyber 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noProof="0" dirty="0"/>
                        <a:t>Oplæg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949661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 dirty="0"/>
                        <a:t>9.30-10.20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EUD Cyber environment- Hands on (Opgave 0)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noProof="0" dirty="0"/>
                        <a:t>Logge på systemerne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noProof="0" dirty="0"/>
                        <a:t>Skabe hændelser og finde dem i relevante logfiler (lokalt)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Oplæg, øvelse + plenum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376553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 dirty="0"/>
                        <a:t>10.20-10.30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noProof="0" dirty="0"/>
                        <a:t>Pause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898247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10.30-12.00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noProof="0" dirty="0"/>
                        <a:t>SIEM og centraliseret logging: Wazuh</a:t>
                      </a:r>
                    </a:p>
                    <a:p>
                      <a:pPr marL="457200" marR="0" lvl="1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sz="1400" noProof="0" dirty="0"/>
                        <a:t>Konfigurere Wazuh og installere agenter</a:t>
                      </a:r>
                    </a:p>
                    <a:p>
                      <a:pPr marL="457200" marR="0" lvl="1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sz="1400" noProof="0" dirty="0"/>
                        <a:t>Skabe hændelse og overvåge dem centralt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Oplæg, øvelse + plenum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642171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12.00-12.45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Frokost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760828"/>
                  </a:ext>
                </a:extLst>
              </a:tr>
              <a:tr h="38656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12.45-14.15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IDS/IPS: Opnsense (og integration med Wazuh)</a:t>
                      </a:r>
                    </a:p>
                    <a:p>
                      <a:pPr marL="45720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noProof="0" dirty="0"/>
                        <a:t>Konfigurere IDS og IPS i Opnsense</a:t>
                      </a:r>
                    </a:p>
                    <a:p>
                      <a:pPr marL="45720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noProof="0" dirty="0"/>
                        <a:t>Observere alarmer og blokeringer i praksis</a:t>
                      </a:r>
                    </a:p>
                    <a:p>
                      <a:pPr marL="45720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noProof="0" dirty="0"/>
                        <a:t>Integrere Opnsense med Wazuh</a:t>
                      </a:r>
                      <a:endParaRPr lang="da-DK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Oplæg, øvelse + plenum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0355"/>
                  </a:ext>
                </a:extLst>
              </a:tr>
              <a:tr h="38656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a-DK" noProof="0" dirty="0"/>
                        <a:t>14.15-14.30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Pause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353634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 dirty="0"/>
                        <a:t>14.30-16.00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noProof="0" dirty="0"/>
                        <a:t>Authentication, Authorization and Accounting: RADIUS</a:t>
                      </a:r>
                    </a:p>
                    <a:p>
                      <a:pPr marL="457200" marR="0" lvl="1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sz="1400" noProof="0" dirty="0"/>
                        <a:t>Konfigurere central authentication på en RADIUS server</a:t>
                      </a:r>
                    </a:p>
                    <a:p>
                      <a:pPr marL="457200" marR="0" lvl="1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sz="1400" noProof="0" dirty="0"/>
                        <a:t>Konfigurere Opnsense til at anvende RADIUS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Oplæg, øvelse + plenum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879610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16.00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noProof="0" dirty="0"/>
                        <a:t>Slut for i 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767376"/>
                  </a:ext>
                </a:extLst>
              </a:tr>
            </a:tbl>
          </a:graphicData>
        </a:graphic>
      </p:graphicFrame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AC41101-8C20-BA8C-0C7E-FD7FDECA2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7D938-B50E-D842-AEDC-C3B711F6BEE0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097BFA3-D789-B1F6-8EBA-73E6F3A49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D35DB1D-6465-9A32-1337-F1A3DFBF1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41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16994482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B9C8F-6685-E301-6FD3-283D41545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B5C26-B06A-2CC3-4EA1-49E5A24A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2875002"/>
            <a:ext cx="9594585" cy="1107996"/>
          </a:xfrm>
        </p:spPr>
        <p:txBody>
          <a:bodyPr/>
          <a:lstStyle/>
          <a:p>
            <a:r>
              <a:rPr lang="da-DK" noProof="0" dirty="0"/>
              <a:t>Authentication, Authorization, Accounting (AAA)</a:t>
            </a:r>
          </a:p>
        </p:txBody>
      </p:sp>
    </p:spTree>
    <p:extLst>
      <p:ext uri="{BB962C8B-B14F-4D97-AF65-F5344CB8AC3E}">
        <p14:creationId xmlns:p14="http://schemas.microsoft.com/office/powerpoint/2010/main" val="24690862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AF81C59D-CBB9-D411-7968-BE725D047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Adgangskontrol og AAA</a:t>
            </a:r>
          </a:p>
        </p:txBody>
      </p:sp>
      <p:sp>
        <p:nvSpPr>
          <p:cNvPr id="10" name="Pladsholder til indhold 9">
            <a:extLst>
              <a:ext uri="{FF2B5EF4-FFF2-40B4-BE49-F238E27FC236}">
                <a16:creationId xmlns:a16="http://schemas.microsoft.com/office/drawing/2014/main" id="{0FB27006-1524-F5DF-2E78-B55BB5113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998" y="1620000"/>
            <a:ext cx="9798481" cy="4320000"/>
          </a:xfrm>
        </p:spPr>
        <p:txBody>
          <a:bodyPr/>
          <a:lstStyle/>
          <a:p>
            <a:r>
              <a:rPr lang="da-DK" noProof="0" dirty="0"/>
              <a:t>Adgangskontrol består af flere elementer</a:t>
            </a:r>
          </a:p>
          <a:p>
            <a:pPr lvl="1"/>
            <a:r>
              <a:rPr lang="da-DK" noProof="0" dirty="0"/>
              <a:t>Identifikation – Er brugeren identificeret</a:t>
            </a:r>
          </a:p>
          <a:p>
            <a:pPr lvl="1"/>
            <a:r>
              <a:rPr lang="da-DK" noProof="0" dirty="0"/>
              <a:t>Authentifikation – Er vi sikker på identifikationen er korrekt</a:t>
            </a:r>
          </a:p>
          <a:p>
            <a:pPr lvl="1"/>
            <a:r>
              <a:rPr lang="da-DK" noProof="0" dirty="0"/>
              <a:t>Authorization – Har den authentificerede bruger adgang til resourcen</a:t>
            </a:r>
          </a:p>
          <a:p>
            <a:pPr lvl="1"/>
            <a:r>
              <a:rPr lang="da-DK" dirty="0"/>
              <a:t>Accounting – Er forespørgslen og afgørelsen logget (i en audit log) </a:t>
            </a:r>
            <a:endParaRPr lang="da-DK" noProof="0" dirty="0"/>
          </a:p>
          <a:p>
            <a:pPr lvl="1"/>
            <a:endParaRPr lang="da-DK" noProof="0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A70C589-848B-9062-53F4-ED596EB8043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945251" y="6567126"/>
            <a:ext cx="1944404" cy="215444"/>
          </a:xfrm>
        </p:spPr>
        <p:txBody>
          <a:bodyPr/>
          <a:lstStyle/>
          <a:p>
            <a:fld id="{06AC9228-041E-BE4C-A177-9A7A550E9A48}" type="slidenum">
              <a:rPr lang="da-DK" noProof="0" smtClean="0"/>
              <a:pPr/>
              <a:t>43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9128411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EB96C-C91E-CC87-6B48-98128DBA8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DF52D45B-6637-80B6-7399-870D29714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Authentication</a:t>
            </a:r>
          </a:p>
        </p:txBody>
      </p:sp>
      <p:sp>
        <p:nvSpPr>
          <p:cNvPr id="10" name="Pladsholder til indhold 9">
            <a:extLst>
              <a:ext uri="{FF2B5EF4-FFF2-40B4-BE49-F238E27FC236}">
                <a16:creationId xmlns:a16="http://schemas.microsoft.com/office/drawing/2014/main" id="{E9CCCFE5-5942-B6B4-5A2C-1D72B0ED2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999" y="1620000"/>
            <a:ext cx="8499182" cy="4320000"/>
          </a:xfrm>
        </p:spPr>
        <p:txBody>
          <a:bodyPr/>
          <a:lstStyle/>
          <a:p>
            <a:r>
              <a:rPr lang="da-DK" noProof="0" dirty="0"/>
              <a:t>Verificer at brugeren er den vedkommende påstår at være</a:t>
            </a:r>
          </a:p>
          <a:p>
            <a:pPr lvl="1"/>
            <a:r>
              <a:rPr lang="da-DK" dirty="0"/>
              <a:t>Eg. er Identifikationen korrekt?</a:t>
            </a:r>
            <a:endParaRPr lang="da-DK" noProof="0" dirty="0"/>
          </a:p>
          <a:p>
            <a:endParaRPr lang="da-DK" noProof="0" dirty="0"/>
          </a:p>
          <a:p>
            <a:r>
              <a:rPr lang="da-DK" noProof="0" dirty="0"/>
              <a:t>Grundlæggende 2 metoder:</a:t>
            </a:r>
          </a:p>
          <a:p>
            <a:pPr lvl="1"/>
            <a:r>
              <a:rPr lang="da-DK" noProof="0" dirty="0"/>
              <a:t>Delt hemmelighed, typisk password</a:t>
            </a:r>
          </a:p>
          <a:p>
            <a:pPr lvl="1"/>
            <a:r>
              <a:rPr lang="da-DK" noProof="0" dirty="0"/>
              <a:t>Public/Private key kryptografi, f.eks digital signatur</a:t>
            </a:r>
          </a:p>
          <a:p>
            <a:pPr lvl="1"/>
            <a:endParaRPr lang="da-DK" dirty="0"/>
          </a:p>
          <a:p>
            <a:r>
              <a:rPr lang="da-DK" noProof="0" dirty="0"/>
              <a:t>Kan udvides med multifaktor authentikation (MFA)</a:t>
            </a:r>
          </a:p>
          <a:p>
            <a:pPr lvl="1"/>
            <a:endParaRPr lang="da-DK" noProof="0" dirty="0"/>
          </a:p>
          <a:p>
            <a:pPr lvl="1"/>
            <a:endParaRPr lang="da-DK" noProof="0" dirty="0"/>
          </a:p>
          <a:p>
            <a:pPr lvl="1"/>
            <a:endParaRPr lang="da-DK" noProof="0" dirty="0"/>
          </a:p>
          <a:p>
            <a:pPr lvl="1"/>
            <a:endParaRPr lang="da-DK" noProof="0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3CA86D2-8685-F6CF-246B-D2ECB70B235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945251" y="6567126"/>
            <a:ext cx="1944404" cy="215444"/>
          </a:xfrm>
        </p:spPr>
        <p:txBody>
          <a:bodyPr/>
          <a:lstStyle/>
          <a:p>
            <a:fld id="{06AC9228-041E-BE4C-A177-9A7A550E9A48}" type="slidenum">
              <a:rPr lang="da-DK" noProof="0" smtClean="0"/>
              <a:pPr/>
              <a:t>44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41237476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dsholder til tekst 20">
            <a:extLst>
              <a:ext uri="{FF2B5EF4-FFF2-40B4-BE49-F238E27FC236}">
                <a16:creationId xmlns:a16="http://schemas.microsoft.com/office/drawing/2014/main" id="{388C553D-9B87-CA9C-F28A-DFA078E042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noProof="0" dirty="0"/>
              <a:t>Verificer flere forskellige ting, :</a:t>
            </a:r>
          </a:p>
          <a:p>
            <a:pPr lvl="1"/>
            <a:r>
              <a:rPr lang="da-DK" noProof="0" dirty="0"/>
              <a:t>Noget man kender (f.eks password)</a:t>
            </a:r>
          </a:p>
          <a:p>
            <a:pPr lvl="1"/>
            <a:r>
              <a:rPr lang="da-DK" noProof="0" dirty="0"/>
              <a:t>Noget man har (f.eks en mobil app) </a:t>
            </a:r>
          </a:p>
          <a:p>
            <a:pPr lvl="1"/>
            <a:r>
              <a:rPr lang="da-DK" noProof="0" dirty="0"/>
              <a:t>Noget man er (f.eks fingeraftryk)</a:t>
            </a:r>
          </a:p>
          <a:p>
            <a:pPr lvl="1"/>
            <a:endParaRPr lang="da-DK" noProof="0" dirty="0"/>
          </a:p>
          <a:p>
            <a:r>
              <a:rPr lang="da-DK" noProof="0" dirty="0"/>
              <a:t>Kan evt. afhænge af use case:</a:t>
            </a:r>
          </a:p>
          <a:p>
            <a:pPr lvl="1"/>
            <a:r>
              <a:rPr lang="da-DK" noProof="0" dirty="0"/>
              <a:t>Step-up ved geolocation eller admin adgang</a:t>
            </a:r>
          </a:p>
          <a:p>
            <a:pPr lvl="1"/>
            <a:r>
              <a:rPr lang="da-DK" noProof="0" dirty="0"/>
              <a:t>Ikke krævet på interne netværk?</a:t>
            </a:r>
          </a:p>
          <a:p>
            <a:endParaRPr lang="da-DK" noProof="0" dirty="0"/>
          </a:p>
          <a:p>
            <a:endParaRPr lang="da-DK" noProof="0" dirty="0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506D41EF-C515-9E24-E397-8DC00F97D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080000"/>
            <a:ext cx="2925460" cy="2769989"/>
          </a:xfrm>
        </p:spPr>
        <p:txBody>
          <a:bodyPr/>
          <a:lstStyle/>
          <a:p>
            <a:r>
              <a:rPr lang="da-DK" noProof="0"/>
              <a:t>MFA – </a:t>
            </a:r>
            <a:r>
              <a:rPr lang="da-DK" noProof="0" err="1"/>
              <a:t>Multi</a:t>
            </a:r>
            <a:r>
              <a:rPr lang="da-DK" noProof="0"/>
              <a:t> Factor Authentication</a:t>
            </a:r>
            <a:br>
              <a:rPr lang="da-DK" noProof="0"/>
            </a:br>
            <a:br>
              <a:rPr lang="da-DK" noProof="0"/>
            </a:br>
            <a:endParaRPr lang="da-DK" noProof="0"/>
          </a:p>
        </p:txBody>
      </p:sp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167AAB0C-5DCA-24B0-83AA-87C829B5E6E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6AC9228-041E-BE4C-A177-9A7A550E9A48}" type="slidenum">
              <a:rPr lang="da-DK" noProof="0" smtClean="0"/>
              <a:pPr/>
              <a:t>45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31794495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A751C-7D81-48D3-7C02-23102D264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E8EAF421-66AD-4E71-B677-A31CA8BCF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Hvor foregår validering (og hvad er det egentligt)?</a:t>
            </a:r>
          </a:p>
        </p:txBody>
      </p:sp>
      <p:sp>
        <p:nvSpPr>
          <p:cNvPr id="10" name="Pladsholder til indhold 9">
            <a:extLst>
              <a:ext uri="{FF2B5EF4-FFF2-40B4-BE49-F238E27FC236}">
                <a16:creationId xmlns:a16="http://schemas.microsoft.com/office/drawing/2014/main" id="{C6D1A2D0-644B-2B9E-256E-FE2649565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261" y="1513675"/>
            <a:ext cx="8499182" cy="4320000"/>
          </a:xfrm>
        </p:spPr>
        <p:txBody>
          <a:bodyPr/>
          <a:lstStyle/>
          <a:p>
            <a:pPr lvl="1"/>
            <a:endParaRPr lang="da-DK" noProof="0"/>
          </a:p>
          <a:p>
            <a:pPr lvl="1"/>
            <a:endParaRPr lang="da-DK" noProof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141B3FF-6E29-AED1-429C-0DFF22578AC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945251" y="6567126"/>
            <a:ext cx="1944404" cy="215444"/>
          </a:xfrm>
        </p:spPr>
        <p:txBody>
          <a:bodyPr/>
          <a:lstStyle/>
          <a:p>
            <a:fld id="{06AC9228-041E-BE4C-A177-9A7A550E9A48}" type="slidenum">
              <a:rPr lang="da-DK" noProof="0" smtClean="0"/>
              <a:pPr/>
              <a:t>46</a:t>
            </a:fld>
            <a:endParaRPr lang="da-DK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B2C7D5-6B7C-C68C-3A5F-CED40CA98188}"/>
              </a:ext>
            </a:extLst>
          </p:cNvPr>
          <p:cNvSpPr txBox="1"/>
          <p:nvPr/>
        </p:nvSpPr>
        <p:spPr>
          <a:xfrm>
            <a:off x="680260" y="1337572"/>
            <a:ext cx="10588375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400" dirty="0"/>
              <a:t>Det er kritisk at validere om brugere har adgang: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a-DK" sz="2400" dirty="0"/>
              <a:t>Typisk vil selve ressourcen (f.eks en applikation/server) foretage en validering af *noget*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400" dirty="0"/>
              <a:t>Men hvad validerer ressourcen egentligt?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a-DK" sz="2400" dirty="0"/>
              <a:t>Nogle gange er det authentifikation (user/password) – indbygget authorization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a-DK" sz="2400" dirty="0"/>
              <a:t>Andre gange kun authorization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da-DK" sz="2400" dirty="0"/>
              <a:t>Autentifikation foretages et andet sted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da-DK" sz="2400" dirty="0"/>
              <a:t>Autorization kan også foretages at andet sted – Policy-enforcement-point/Policy-decision-point (PEP/PDP)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da-DK" sz="2400" dirty="0"/>
          </a:p>
          <a:p>
            <a:pPr lvl="2" algn="ctr"/>
            <a:r>
              <a:rPr lang="da-DK" sz="3600" b="1" dirty="0"/>
              <a:t>TLDR; Dele af valideringen kan uddelegeres til andre</a:t>
            </a:r>
            <a:endParaRPr lang="da-DK" sz="24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da-DK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da-DK" sz="2400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sz="2400" noProof="0" dirty="0"/>
          </a:p>
        </p:txBody>
      </p:sp>
    </p:spTree>
    <p:extLst>
      <p:ext uri="{BB962C8B-B14F-4D97-AF65-F5344CB8AC3E}">
        <p14:creationId xmlns:p14="http://schemas.microsoft.com/office/powerpoint/2010/main" val="17074469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0F26C-37EC-81A5-9B90-A39EA2621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15A602C8-2F7A-6367-8009-B1032ACD9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Federated Identity (</a:t>
            </a:r>
            <a:r>
              <a:rPr lang="da-DK" noProof="0" dirty="0"/>
              <a:t>IdP</a:t>
            </a:r>
            <a:r>
              <a:rPr lang="da-DK" noProof="0"/>
              <a:t>)</a:t>
            </a:r>
            <a:r>
              <a:rPr lang="da-DK" noProof="0" dirty="0"/>
              <a:t> og RADIUS</a:t>
            </a:r>
            <a:endParaRPr lang="da-DK" noProof="0"/>
          </a:p>
        </p:txBody>
      </p:sp>
      <p:sp>
        <p:nvSpPr>
          <p:cNvPr id="10" name="Pladsholder til indhold 9">
            <a:extLst>
              <a:ext uri="{FF2B5EF4-FFF2-40B4-BE49-F238E27FC236}">
                <a16:creationId xmlns:a16="http://schemas.microsoft.com/office/drawing/2014/main" id="{DB55835D-1ED6-E65B-3868-CF3A54A54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405" y="1343554"/>
            <a:ext cx="8499182" cy="4320000"/>
          </a:xfrm>
        </p:spPr>
        <p:txBody>
          <a:bodyPr/>
          <a:lstStyle/>
          <a:p>
            <a:r>
              <a:rPr lang="da-DK" noProof="0" dirty="0"/>
              <a:t>2 Varianter af det samme</a:t>
            </a:r>
          </a:p>
          <a:p>
            <a:pPr lvl="1"/>
            <a:r>
              <a:rPr lang="da-DK" dirty="0"/>
              <a:t>Lad en anden server foretage verifikation af username/password</a:t>
            </a:r>
          </a:p>
          <a:p>
            <a:pPr lvl="1"/>
            <a:r>
              <a:rPr lang="da-DK" noProof="0" dirty="0"/>
              <a:t>Stol på serveren har gjort det korrekt</a:t>
            </a:r>
          </a:p>
          <a:p>
            <a:endParaRPr lang="da-DK" noProof="0" dirty="0"/>
          </a:p>
          <a:p>
            <a:r>
              <a:rPr lang="da-DK" noProof="0" dirty="0"/>
              <a:t>RADIUS er nærmere infrastrukturen</a:t>
            </a:r>
          </a:p>
          <a:p>
            <a:pPr lvl="1"/>
            <a:r>
              <a:rPr lang="da-DK" dirty="0"/>
              <a:t>F.eks selve netværket og VPN</a:t>
            </a:r>
            <a:endParaRPr lang="da-DK" noProof="0" dirty="0"/>
          </a:p>
          <a:p>
            <a:r>
              <a:rPr lang="da-DK" dirty="0"/>
              <a:t>Federated Identity er nærmere applikationerne</a:t>
            </a:r>
          </a:p>
          <a:p>
            <a:pPr lvl="1"/>
            <a:r>
              <a:rPr lang="da-DK" noProof="0" dirty="0"/>
              <a:t>F.eks adgang via MitID eller Google </a:t>
            </a:r>
          </a:p>
          <a:p>
            <a:pPr lvl="1"/>
            <a:endParaRPr lang="da-DK" noProof="0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992AD1C-2D7C-BE0A-A5A1-3EB4830F0F4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945251" y="6567126"/>
            <a:ext cx="1944404" cy="215444"/>
          </a:xfrm>
        </p:spPr>
        <p:txBody>
          <a:bodyPr/>
          <a:lstStyle/>
          <a:p>
            <a:fld id="{06AC9228-041E-BE4C-A177-9A7A550E9A48}" type="slidenum">
              <a:rPr lang="da-DK" noProof="0" smtClean="0"/>
              <a:pPr/>
              <a:t>47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3444905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E5B83-9C2C-5DF4-D968-D5C7F346D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5683B5C2-5664-1E0D-8905-F0F3EA75F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Federated Identity (IdP) og RADIUS</a:t>
            </a:r>
          </a:p>
        </p:txBody>
      </p:sp>
      <p:sp>
        <p:nvSpPr>
          <p:cNvPr id="10" name="Pladsholder til indhold 9">
            <a:extLst>
              <a:ext uri="{FF2B5EF4-FFF2-40B4-BE49-F238E27FC236}">
                <a16:creationId xmlns:a16="http://schemas.microsoft.com/office/drawing/2014/main" id="{258F4302-7B31-5893-A324-6863CA749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405" y="1343554"/>
            <a:ext cx="8499182" cy="4320000"/>
          </a:xfrm>
        </p:spPr>
        <p:txBody>
          <a:bodyPr/>
          <a:lstStyle/>
          <a:p>
            <a:r>
              <a:rPr lang="da-DK" noProof="0" dirty="0"/>
              <a:t>2 Varianter af det samme</a:t>
            </a:r>
          </a:p>
          <a:p>
            <a:pPr lvl="1"/>
            <a:r>
              <a:rPr lang="da-DK" dirty="0"/>
              <a:t>Lad en anden server foretage verifikation af username/password</a:t>
            </a:r>
          </a:p>
          <a:p>
            <a:pPr lvl="1"/>
            <a:r>
              <a:rPr lang="da-DK" noProof="0" dirty="0"/>
              <a:t>Stol på serveren har gjort det korrekt</a:t>
            </a:r>
          </a:p>
          <a:p>
            <a:endParaRPr lang="da-DK" noProof="0" dirty="0"/>
          </a:p>
          <a:p>
            <a:r>
              <a:rPr lang="da-DK" noProof="0" dirty="0"/>
              <a:t>RADIUS er nærmere infrastrukturen</a:t>
            </a:r>
          </a:p>
          <a:p>
            <a:pPr lvl="1"/>
            <a:r>
              <a:rPr lang="da-DK" dirty="0"/>
              <a:t>F.eks selve netværket og VPN</a:t>
            </a:r>
            <a:endParaRPr lang="da-DK" noProof="0" dirty="0"/>
          </a:p>
          <a:p>
            <a:r>
              <a:rPr lang="da-DK" dirty="0"/>
              <a:t>Federated Identity er nærmere applikationerne</a:t>
            </a:r>
          </a:p>
          <a:p>
            <a:pPr lvl="1"/>
            <a:r>
              <a:rPr lang="da-DK" noProof="0" dirty="0"/>
              <a:t>F.eks adgang via MitID eller Google </a:t>
            </a:r>
          </a:p>
          <a:p>
            <a:pPr lvl="1"/>
            <a:endParaRPr lang="da-DK" noProof="0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DF44DB6-8907-2098-E33C-783ECA63468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945251" y="6567126"/>
            <a:ext cx="1944404" cy="215444"/>
          </a:xfrm>
        </p:spPr>
        <p:txBody>
          <a:bodyPr/>
          <a:lstStyle/>
          <a:p>
            <a:fld id="{06AC9228-041E-BE4C-A177-9A7A550E9A48}" type="slidenum">
              <a:rPr lang="da-DK" noProof="0" smtClean="0"/>
              <a:pPr/>
              <a:t>48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33383052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25116-FE09-17D1-FFD4-A987E62DF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8E4FB42E-66A1-1D30-53E1-41EB9854E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Federated Identity (IdP) og RADIUS</a:t>
            </a:r>
          </a:p>
        </p:txBody>
      </p:sp>
      <p:sp>
        <p:nvSpPr>
          <p:cNvPr id="10" name="Pladsholder til indhold 9">
            <a:extLst>
              <a:ext uri="{FF2B5EF4-FFF2-40B4-BE49-F238E27FC236}">
                <a16:creationId xmlns:a16="http://schemas.microsoft.com/office/drawing/2014/main" id="{1729958A-EDA3-0B7B-0FAF-02BC6A376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405" y="1343554"/>
            <a:ext cx="8499182" cy="4320000"/>
          </a:xfrm>
        </p:spPr>
        <p:txBody>
          <a:bodyPr/>
          <a:lstStyle/>
          <a:p>
            <a:r>
              <a:rPr lang="da-DK" noProof="0" dirty="0"/>
              <a:t>RADIUS er lidt ældre og fungerer lidt anderledes end OIDC/OAUTH2 og mange af de andre nye IdP/SSO teknologier</a:t>
            </a:r>
          </a:p>
          <a:p>
            <a:endParaRPr lang="da-DK" noProof="0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963FA44-D1D1-4480-836B-65F52DFE87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945251" y="6567126"/>
            <a:ext cx="1944404" cy="215444"/>
          </a:xfrm>
        </p:spPr>
        <p:txBody>
          <a:bodyPr/>
          <a:lstStyle/>
          <a:p>
            <a:fld id="{06AC9228-041E-BE4C-A177-9A7A550E9A48}" type="slidenum">
              <a:rPr lang="da-DK" noProof="0" smtClean="0"/>
              <a:pPr/>
              <a:t>49</a:t>
            </a:fld>
            <a:endParaRPr lang="da-DK" noProof="0"/>
          </a:p>
        </p:txBody>
      </p:sp>
      <p:pic>
        <p:nvPicPr>
          <p:cNvPr id="1026" name="Picture 2" descr="the radius authentication process">
            <a:extLst>
              <a:ext uri="{FF2B5EF4-FFF2-40B4-BE49-F238E27FC236}">
                <a16:creationId xmlns:a16="http://schemas.microsoft.com/office/drawing/2014/main" id="{CA8A1A62-534F-3EB4-5012-4D59442F80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290" y="2708941"/>
            <a:ext cx="4960524" cy="3858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0ABAF4-1919-1504-17FC-977DB8E183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1417" y="1902881"/>
            <a:ext cx="3562868" cy="451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0960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9B57E-79C3-CC9E-CAFD-4D5DB67B6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3D225-48BE-D348-718B-5E7BDCB3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</p:spPr>
        <p:txBody>
          <a:bodyPr/>
          <a:lstStyle/>
          <a:p>
            <a:r>
              <a:rPr lang="da-DK" noProof="0" dirty="0"/>
              <a:t>Øvelse</a:t>
            </a:r>
          </a:p>
        </p:txBody>
      </p:sp>
    </p:spTree>
    <p:extLst>
      <p:ext uri="{BB962C8B-B14F-4D97-AF65-F5344CB8AC3E}">
        <p14:creationId xmlns:p14="http://schemas.microsoft.com/office/powerpoint/2010/main" val="23816749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B106A-0166-B449-FF1B-F5B90796A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25B8A-E290-330F-CB8D-C9472DC53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Øvelser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80605-79E2-22AA-981C-AB09DD622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999" y="1205121"/>
            <a:ext cx="10923192" cy="4320000"/>
          </a:xfrm>
        </p:spPr>
        <p:txBody>
          <a:bodyPr/>
          <a:lstStyle/>
          <a:p>
            <a:r>
              <a:rPr lang="da-DK" dirty="0"/>
              <a:t>Følg instruktionerne i “AAA”:</a:t>
            </a:r>
          </a:p>
          <a:p>
            <a:pPr lvl="2"/>
            <a:r>
              <a:rPr lang="da-DK" dirty="0">
                <a:hlinkClick r:id="rId2"/>
              </a:rPr>
              <a:t>https://github.com/alexandrainst/IU-kursus/tree/main/Kursus-3</a:t>
            </a:r>
            <a:endParaRPr lang="da-DK" dirty="0"/>
          </a:p>
          <a:p>
            <a:pPr lvl="2"/>
            <a:r>
              <a:rPr lang="da-DK" dirty="0"/>
              <a:t>(Konfigurere en Freeradius server og konfigurere Opnsense til at anvende den)</a:t>
            </a:r>
          </a:p>
          <a:p>
            <a:endParaRPr lang="da-DK" dirty="0"/>
          </a:p>
          <a:p>
            <a:r>
              <a:rPr lang="da-DK" dirty="0"/>
              <a:t>”Bonus opgave”:</a:t>
            </a:r>
          </a:p>
          <a:p>
            <a:pPr lvl="2"/>
            <a:r>
              <a:rPr lang="da-DK" dirty="0"/>
              <a:t>Opgave 4, der beskriver hvordan man integrerer med SIEM/Wazuh er ikke lavet endnu. Har i tid, kan i evt. undersøge hvordan det kan gøres: </a:t>
            </a:r>
            <a:r>
              <a:rPr lang="da-DK" sz="1800" dirty="0"/>
              <a:t>https://www.zerozone.it/cybersecurity/how-to-add-freeradius-logs-in-wazuh-siem/23460</a:t>
            </a:r>
            <a:r>
              <a:rPr lang="da-DK" dirty="0"/>
              <a:t> </a:t>
            </a:r>
          </a:p>
          <a:p>
            <a:pPr lvl="2"/>
            <a:r>
              <a:rPr lang="da-DK" noProof="0" dirty="0"/>
              <a:t>I kan også genbesøge evt. tidligere opgaver i ikke nåede</a:t>
            </a:r>
          </a:p>
          <a:p>
            <a:pPr marL="0" indent="0" algn="ctr">
              <a:buNone/>
            </a:pPr>
            <a:endParaRPr lang="da-DK" sz="3600" noProof="0" dirty="0"/>
          </a:p>
          <a:p>
            <a:pPr marL="0" indent="0" algn="ctr">
              <a:buNone/>
            </a:pPr>
            <a:r>
              <a:rPr lang="da-DK" sz="3600" noProof="0" dirty="0"/>
              <a:t>Opsamling kl. 15.50</a:t>
            </a:r>
          </a:p>
          <a:p>
            <a:pPr marL="360000" lvl="2" indent="0">
              <a:buNone/>
            </a:pPr>
            <a:r>
              <a:rPr lang="da-DK" noProof="0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83F51-1FF5-839A-0BE0-5B66F7D6A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16-03-2026</a:t>
            </a:fld>
            <a:endParaRPr lang="da-DK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643E5-FEAC-512D-FC82-2C1A7B83C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 dirty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2A1D6-D634-E498-E5AA-35A8334DC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51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3476062993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side">
  <a:themeElements>
    <a:clrScheme name="Alexandra Instituttet farver 2024">
      <a:dk1>
        <a:srgbClr val="343434"/>
      </a:dk1>
      <a:lt1>
        <a:srgbClr val="FFFFFF"/>
      </a:lt1>
      <a:dk2>
        <a:srgbClr val="343434"/>
      </a:dk2>
      <a:lt2>
        <a:srgbClr val="EDEDED"/>
      </a:lt2>
      <a:accent1>
        <a:srgbClr val="002A3F"/>
      </a:accent1>
      <a:accent2>
        <a:srgbClr val="0E495F"/>
      </a:accent2>
      <a:accent3>
        <a:srgbClr val="7797A5"/>
      </a:accent3>
      <a:accent4>
        <a:srgbClr val="9DB2BB"/>
      </a:accent4>
      <a:accent5>
        <a:srgbClr val="2B6B8B"/>
      </a:accent5>
      <a:accent6>
        <a:srgbClr val="BE5D2B"/>
      </a:accent6>
      <a:hlink>
        <a:srgbClr val="BE5D2B"/>
      </a:hlink>
      <a:folHlink>
        <a:srgbClr val="95989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lexandra_Instituttet_2022_DK" id="{4A3BB4F3-E6E2-C94B-9938-7B191890F638}" vid="{0E9BCA01-149E-234A-89EB-7639E86386CB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92297d5-60a3-4378-8fa0-0f27dec9bc09">
      <Terms xmlns="http://schemas.microsoft.com/office/infopath/2007/PartnerControls"/>
    </lcf76f155ced4ddcb4097134ff3c332f>
    <TaxCatchAll xmlns="b7a1e643-70f8-4e3c-953a-3408b8617d0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27C4D7E2A2944090E7FCAA05E5A1BB" ma:contentTypeVersion="10" ma:contentTypeDescription="Create a new document." ma:contentTypeScope="" ma:versionID="5654dc2dce5cea82e1ab13b5f3604516">
  <xsd:schema xmlns:xsd="http://www.w3.org/2001/XMLSchema" xmlns:xs="http://www.w3.org/2001/XMLSchema" xmlns:p="http://schemas.microsoft.com/office/2006/metadata/properties" xmlns:ns2="992297d5-60a3-4378-8fa0-0f27dec9bc09" xmlns:ns3="b7a1e643-70f8-4e3c-953a-3408b8617d0b" targetNamespace="http://schemas.microsoft.com/office/2006/metadata/properties" ma:root="true" ma:fieldsID="feedf58334a1fa6c1b64214aa0d99011" ns2:_="" ns3:_="">
    <xsd:import namespace="992297d5-60a3-4378-8fa0-0f27dec9bc09"/>
    <xsd:import namespace="b7a1e643-70f8-4e3c-953a-3408b8617d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2297d5-60a3-4378-8fa0-0f27dec9bc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3ed45bc6-4cda-4749-a7f6-2a7b80b4ce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a1e643-70f8-4e3c-953a-3408b8617d0b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fc1ff10-0bec-441f-aebe-baec60099296}" ma:internalName="TaxCatchAll" ma:showField="CatchAllData" ma:web="b7a1e643-70f8-4e3c-953a-3408b8617d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589B6C1-278B-4679-8048-46DF9121B232}">
  <ds:schemaRefs>
    <ds:schemaRef ds:uri="http://schemas.microsoft.com/office/2006/metadata/properties"/>
    <ds:schemaRef ds:uri="http://purl.org/dc/terms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b7a1e643-70f8-4e3c-953a-3408b8617d0b"/>
    <ds:schemaRef ds:uri="992297d5-60a3-4378-8fa0-0f27dec9bc09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335A7CD-B6F1-4816-BEEE-20D12C3BB67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3DDB0D7-670D-4386-98F8-723229A40232}">
  <ds:schemaRefs>
    <ds:schemaRef ds:uri="992297d5-60a3-4378-8fa0-0f27dec9bc09"/>
    <ds:schemaRef ds:uri="b7a1e643-70f8-4e3c-953a-3408b8617d0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DK-skabelon-Alexandra-Instituttet</Template>
  <TotalTime>20427</TotalTime>
  <Words>2934</Words>
  <Application>Microsoft Office PowerPoint</Application>
  <PresentationFormat>Widescreen</PresentationFormat>
  <Paragraphs>613</Paragraphs>
  <Slides>51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Arial</vt:lpstr>
      <vt:lpstr>Calibri</vt:lpstr>
      <vt:lpstr>Montserrat</vt:lpstr>
      <vt:lpstr>Tahoma</vt:lpstr>
      <vt:lpstr>Wingdings</vt:lpstr>
      <vt:lpstr>Masterside</vt:lpstr>
      <vt:lpstr>Dag I:  Netværk og endpoint sikkerhed i EUD Cyber Environment</vt:lpstr>
      <vt:lpstr>Agenda: Dag 1</vt:lpstr>
      <vt:lpstr>Kursus 3</vt:lpstr>
      <vt:lpstr>Undervisningsplan H4</vt:lpstr>
      <vt:lpstr>Emner for de gennemgående fag</vt:lpstr>
      <vt:lpstr>Dagens plan</vt:lpstr>
      <vt:lpstr>Øvelserne</vt:lpstr>
      <vt:lpstr>EUD Cyber Environment</vt:lpstr>
      <vt:lpstr>EUD Cyber Environment – ”Øvelse 0”</vt:lpstr>
      <vt:lpstr>Gå på opdagelse i systemet</vt:lpstr>
      <vt:lpstr>Logning</vt:lpstr>
      <vt:lpstr>Øvelser</vt:lpstr>
      <vt:lpstr>Agenda: Dag 1</vt:lpstr>
      <vt:lpstr>Wazuh og SIEM</vt:lpstr>
      <vt:lpstr>Centraliseret logning – hvorfor?</vt:lpstr>
      <vt:lpstr>Centraliseret logning har mange navne</vt:lpstr>
      <vt:lpstr>ADVARSEL   Logdata kan være underlagt GDPR   </vt:lpstr>
      <vt:lpstr>EDR – Endpoint Detection and Response</vt:lpstr>
      <vt:lpstr>EDR – Endpoint Detection and Response </vt:lpstr>
      <vt:lpstr>Udfordringer ved EDR</vt:lpstr>
      <vt:lpstr>Security Information and Event Management</vt:lpstr>
      <vt:lpstr>PowerPoint Presentation</vt:lpstr>
      <vt:lpstr>PowerPoint Presentation</vt:lpstr>
      <vt:lpstr>WAZUH</vt:lpstr>
      <vt:lpstr>WAZUH – Hvordan virker det</vt:lpstr>
      <vt:lpstr>WAZUH – Hvad skal vi bruge det til </vt:lpstr>
      <vt:lpstr>WAZUH – Hvad skal vi bruge det til </vt:lpstr>
      <vt:lpstr>Øvelser</vt:lpstr>
      <vt:lpstr>Agenda: Dag 1</vt:lpstr>
      <vt:lpstr>IDS/IPS</vt:lpstr>
      <vt:lpstr>Hvad er IDS og IPS</vt:lpstr>
      <vt:lpstr>IDS</vt:lpstr>
      <vt:lpstr>IPS</vt:lpstr>
      <vt:lpstr>Opmærksomhedspunkter</vt:lpstr>
      <vt:lpstr>Opmærksomhedspunkter placering i topologi</vt:lpstr>
      <vt:lpstr>Hvordan fungerer (grundlæggende) IDS?</vt:lpstr>
      <vt:lpstr>Hvordan fungerer IDS også?</vt:lpstr>
      <vt:lpstr>Mere information = Bedre resultater </vt:lpstr>
      <vt:lpstr>Øvelse</vt:lpstr>
      <vt:lpstr>Øvelser</vt:lpstr>
      <vt:lpstr>Agenda: Dag 1</vt:lpstr>
      <vt:lpstr>Authentication, Authorization, Accounting (AAA)</vt:lpstr>
      <vt:lpstr>Adgangskontrol og AAA</vt:lpstr>
      <vt:lpstr>Authentication</vt:lpstr>
      <vt:lpstr>MFA – Multi Factor Authentication  </vt:lpstr>
      <vt:lpstr>Hvor foregår validering (og hvad er det egentligt)?</vt:lpstr>
      <vt:lpstr>Federated Identity (IdP) og RADIUS</vt:lpstr>
      <vt:lpstr>Federated Identity (IdP) og RADIUS</vt:lpstr>
      <vt:lpstr>Federated Identity (IdP) og RADIUS</vt:lpstr>
      <vt:lpstr>Øvelse</vt:lpstr>
      <vt:lpstr>Øvelser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CyPro kursus</dc:title>
  <dc:creator>Frederik Mølgaard Thayssen</dc:creator>
  <cp:lastModifiedBy>Michael Bladt Stausholm</cp:lastModifiedBy>
  <cp:revision>3</cp:revision>
  <cp:lastPrinted>2025-02-12T10:34:21Z</cp:lastPrinted>
  <dcterms:created xsi:type="dcterms:W3CDTF">2023-11-20T12:59:19Z</dcterms:created>
  <dcterms:modified xsi:type="dcterms:W3CDTF">2026-03-17T07:43:33Z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0x0101003B27C4D7E2A2944090E7FCAA05E5A1BB</vt:lpwstr>
  </property>
  <property fmtid="{D5CDD505-2E9C-101B-9397-08002B2CF9AE}" pid="3" name="MediaServiceImageTags">
    <vt:lpwstr/>
  </property>
  <property fmtid="{D5CDD505-2E9C-101B-9397-08002B2CF9AE}" pid="4" name="MSIP_Label_015abd0b-e5c5-4790-8ca5-8bb2d8ba98d8_Enabled">
    <vt:lpwstr>true</vt:lpwstr>
  </property>
  <property fmtid="{D5CDD505-2E9C-101B-9397-08002B2CF9AE}" pid="5" name="MSIP_Label_015abd0b-e5c5-4790-8ca5-8bb2d8ba98d8_SetDate">
    <vt:lpwstr>2025-08-18T08:27:08Z</vt:lpwstr>
  </property>
  <property fmtid="{D5CDD505-2E9C-101B-9397-08002B2CF9AE}" pid="6" name="MSIP_Label_015abd0b-e5c5-4790-8ca5-8bb2d8ba98d8_Method">
    <vt:lpwstr>Privileged</vt:lpwstr>
  </property>
  <property fmtid="{D5CDD505-2E9C-101B-9397-08002B2CF9AE}" pid="7" name="MSIP_Label_015abd0b-e5c5-4790-8ca5-8bb2d8ba98d8_Name">
    <vt:lpwstr>Public</vt:lpwstr>
  </property>
  <property fmtid="{D5CDD505-2E9C-101B-9397-08002B2CF9AE}" pid="8" name="MSIP_Label_015abd0b-e5c5-4790-8ca5-8bb2d8ba98d8_SiteId">
    <vt:lpwstr>4bda23cd-4a87-419b-a47d-7673130b2884</vt:lpwstr>
  </property>
  <property fmtid="{D5CDD505-2E9C-101B-9397-08002B2CF9AE}" pid="9" name="MSIP_Label_015abd0b-e5c5-4790-8ca5-8bb2d8ba98d8_ActionId">
    <vt:lpwstr>bb77ce29-668d-4eb4-a284-0fbf7dcdc053</vt:lpwstr>
  </property>
  <property fmtid="{D5CDD505-2E9C-101B-9397-08002B2CF9AE}" pid="10" name="MSIP_Label_015abd0b-e5c5-4790-8ca5-8bb2d8ba98d8_ContentBits">
    <vt:lpwstr>1</vt:lpwstr>
  </property>
  <property fmtid="{D5CDD505-2E9C-101B-9397-08002B2CF9AE}" pid="11" name="MSIP_Label_015abd0b-e5c5-4790-8ca5-8bb2d8ba98d8_Tag">
    <vt:lpwstr>10, 0, 1, 1</vt:lpwstr>
  </property>
  <property fmtid="{D5CDD505-2E9C-101B-9397-08002B2CF9AE}" pid="12" name="ClassificationContentMarkingHeaderLocations">
    <vt:lpwstr>masterside:8</vt:lpwstr>
  </property>
  <property fmtid="{D5CDD505-2E9C-101B-9397-08002B2CF9AE}" pid="13" name="ClassificationContentMarkingHeaderText">
    <vt:lpwstr>PUBLIC</vt:lpwstr>
  </property>
</Properties>
</file>