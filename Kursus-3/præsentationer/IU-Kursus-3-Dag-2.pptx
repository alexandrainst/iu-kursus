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4"/>
  </p:sldMasterIdLst>
  <p:notesMasterIdLst>
    <p:notesMasterId r:id="rId51"/>
  </p:notesMasterIdLst>
  <p:sldIdLst>
    <p:sldId id="1892" r:id="rId5"/>
    <p:sldId id="1902" r:id="rId6"/>
    <p:sldId id="1898" r:id="rId7"/>
    <p:sldId id="1906" r:id="rId8"/>
    <p:sldId id="1907" r:id="rId9"/>
    <p:sldId id="1904" r:id="rId10"/>
    <p:sldId id="1908" r:id="rId11"/>
    <p:sldId id="1905" r:id="rId12"/>
    <p:sldId id="1909" r:id="rId13"/>
    <p:sldId id="1896" r:id="rId14"/>
    <p:sldId id="1895" r:id="rId15"/>
    <p:sldId id="2134806451" r:id="rId16"/>
    <p:sldId id="2134806458" r:id="rId17"/>
    <p:sldId id="2134806450" r:id="rId18"/>
    <p:sldId id="2134806459" r:id="rId19"/>
    <p:sldId id="1897" r:id="rId20"/>
    <p:sldId id="1910" r:id="rId21"/>
    <p:sldId id="1901" r:id="rId22"/>
    <p:sldId id="1911" r:id="rId23"/>
    <p:sldId id="1913" r:id="rId24"/>
    <p:sldId id="1914" r:id="rId25"/>
    <p:sldId id="2134806442" r:id="rId26"/>
    <p:sldId id="2134806440" r:id="rId27"/>
    <p:sldId id="2134806448" r:id="rId28"/>
    <p:sldId id="2134806449" r:id="rId29"/>
    <p:sldId id="1928" r:id="rId30"/>
    <p:sldId id="1915" r:id="rId31"/>
    <p:sldId id="1916" r:id="rId32"/>
    <p:sldId id="1917" r:id="rId33"/>
    <p:sldId id="1918" r:id="rId34"/>
    <p:sldId id="2134806452" r:id="rId35"/>
    <p:sldId id="2134806454" r:id="rId36"/>
    <p:sldId id="2134806456" r:id="rId37"/>
    <p:sldId id="2134806457" r:id="rId38"/>
    <p:sldId id="2134806455" r:id="rId39"/>
    <p:sldId id="2134806460" r:id="rId40"/>
    <p:sldId id="2134806461" r:id="rId41"/>
    <p:sldId id="1919" r:id="rId42"/>
    <p:sldId id="1921" r:id="rId43"/>
    <p:sldId id="1920" r:id="rId44"/>
    <p:sldId id="1922" r:id="rId45"/>
    <p:sldId id="1923" r:id="rId46"/>
    <p:sldId id="1925" r:id="rId47"/>
    <p:sldId id="1926" r:id="rId48"/>
    <p:sldId id="2134806462" r:id="rId49"/>
    <p:sldId id="192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D9B63F-778D-4D9D-DB16-17A170F388A9}" name="Michael Bladt Stausholm" initials="MS" userId="S::michael.stausholm@alexandra.dk::aa5f8758-c00f-4915-8c94-9445905eb5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371"/>
    <a:srgbClr val="D4B000"/>
    <a:srgbClr val="003843"/>
    <a:srgbClr val="798690"/>
    <a:srgbClr val="D7D8D7"/>
    <a:srgbClr val="F6C821"/>
    <a:srgbClr val="C5A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E49DD-3980-A695-7F15-BF2AE3C24BB7}" v="1534" dt="2026-03-17T05:32:39.535"/>
    <p1510:client id="{99A203F6-4029-4613-8FDB-A43E362DD21D}" v="96" dt="2026-03-16T14:45:22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4"/>
    <p:restoredTop sz="94660"/>
  </p:normalViewPr>
  <p:slideViewPr>
    <p:cSldViewPr snapToGrid="0">
      <p:cViewPr varScale="1">
        <p:scale>
          <a:sx n="153" d="100"/>
          <a:sy n="153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8/10/relationships/authors" Target="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8A8B2-9967-5C4C-B793-6C24CF068DE2}" type="datetimeFigureOut">
              <a:rPr lang="da-DK" smtClean="0"/>
              <a:t>17.03.2026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F29A2-4FD5-4341-8EB7-C2CDDFE66A5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67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D2EF-0906-39E8-7143-065D282A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45A49-7783-3A8B-F225-6B90AF189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A19E7-6A83-E0A6-5911-3A7AA97AD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BA0AA-B1EB-4884-8CFE-72932A451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247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GENER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 descr="Et billede, der indeholder kaffekop, krus, bord, bordservice&#10;&#10;AI-genereret indhold kan være ukorrekt.">
            <a:extLst>
              <a:ext uri="{FF2B5EF4-FFF2-40B4-BE49-F238E27FC236}">
                <a16:creationId xmlns:a16="http://schemas.microsoft.com/office/drawing/2014/main" id="{C121535F-D843-EA03-AF0E-364245AE2B7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4258" b="-23475"/>
          <a:stretch>
            <a:fillRect/>
          </a:stretch>
        </p:blipFill>
        <p:spPr>
          <a:xfrm>
            <a:off x="2266094" y="0"/>
            <a:ext cx="9925906" cy="5554075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4123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IKKER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kredsløb, elektronik, Elektronisk komponent, Elektroteknik&#10;&#10;AI-genereret indhold kan være ukorrekt.">
            <a:extLst>
              <a:ext uri="{FF2B5EF4-FFF2-40B4-BE49-F238E27FC236}">
                <a16:creationId xmlns:a16="http://schemas.microsoft.com/office/drawing/2014/main" id="{B083C026-0090-3194-76FE-2AB9675B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11" r="21876"/>
          <a:stretch>
            <a:fillRect/>
          </a:stretch>
        </p:blipFill>
        <p:spPr>
          <a:xfrm>
            <a:off x="2667157" y="-1"/>
            <a:ext cx="9524843" cy="449812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97286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BÆREDYG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 descr="Et billede, der indeholder træ, person, udendørs, tøj&#10;&#10;AI-genereret indhold kan være ukorrekt.">
            <a:extLst>
              <a:ext uri="{FF2B5EF4-FFF2-40B4-BE49-F238E27FC236}">
                <a16:creationId xmlns:a16="http://schemas.microsoft.com/office/drawing/2014/main" id="{1D5533EA-34A2-1C3E-82C4-F40F51E17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485" y="0"/>
            <a:ext cx="8051515" cy="4528977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0018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 descr="Et billede, der indeholder person, fyrværkeri, lys/lygte&#10;&#10;AI-genereret indhold kan være ukorrekt.">
            <a:extLst>
              <a:ext uri="{FF2B5EF4-FFF2-40B4-BE49-F238E27FC236}">
                <a16:creationId xmlns:a16="http://schemas.microsoft.com/office/drawing/2014/main" id="{5D29AC76-5194-A073-E319-3DA1BCEAF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57" y="0"/>
            <a:ext cx="8164530" cy="4592548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54041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I Sprogteknolog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person, indendørs, tøj, Ansigt&#10;&#10;AI-genereret indhold kan være ukorrekt.">
            <a:extLst>
              <a:ext uri="{FF2B5EF4-FFF2-40B4-BE49-F238E27FC236}">
                <a16:creationId xmlns:a16="http://schemas.microsoft.com/office/drawing/2014/main" id="{869A67AF-8795-6ADF-B0C8-64901637480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4265662" y="0"/>
            <a:ext cx="7926338" cy="468774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17998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UND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lede 16" descr="Et billede, der indeholder skærmbillede, elektronik, musik&#10;&#10;AI-genereret indhold kan være ukorrekt.">
            <a:extLst>
              <a:ext uri="{FF2B5EF4-FFF2-40B4-BE49-F238E27FC236}">
                <a16:creationId xmlns:a16="http://schemas.microsoft.com/office/drawing/2014/main" id="{0C704087-8C8C-A1EB-7981-3819ABE4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365" y="0"/>
            <a:ext cx="8018635" cy="4510482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13175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104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152296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50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0D059A8-DCE4-A46D-60D3-F398DD48F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620000"/>
            <a:ext cx="5040000" cy="4337050"/>
          </a:xfrm>
        </p:spPr>
        <p:txBody>
          <a:bodyPr/>
          <a:lstStyle>
            <a:lvl2pPr>
              <a:defRPr lang="da-DK" sz="2000" kern="1200" noProof="0" dirty="0" smtClean="0">
                <a:solidFill>
                  <a:srgbClr val="34343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da-DK" sz="1800" kern="1200" dirty="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39453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2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e 3">
            <a:extLst>
              <a:ext uri="{FF2B5EF4-FFF2-40B4-BE49-F238E27FC236}">
                <a16:creationId xmlns:a16="http://schemas.microsoft.com/office/drawing/2014/main" id="{64C8BE60-2B52-C474-A2CB-1F64FF30550F}"/>
              </a:ext>
            </a:extLst>
          </p:cNvPr>
          <p:cNvGrpSpPr>
            <a:grpSpLocks/>
          </p:cNvGrpSpPr>
          <p:nvPr/>
        </p:nvGrpSpPr>
        <p:grpSpPr>
          <a:xfrm>
            <a:off x="6168866" y="0"/>
            <a:ext cx="6023133" cy="6875719"/>
            <a:chOff x="6168866" y="0"/>
            <a:chExt cx="6023133" cy="6875719"/>
          </a:xfrm>
        </p:grpSpPr>
        <p:sp>
          <p:nvSpPr>
            <p:cNvPr id="2" name="Right Triangle 5">
              <a:extLst>
                <a:ext uri="{FF2B5EF4-FFF2-40B4-BE49-F238E27FC236}">
                  <a16:creationId xmlns:a16="http://schemas.microsoft.com/office/drawing/2014/main" id="{BDA80A67-9751-09B1-DB0C-8281D5DF6CC4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D1B89683-95FC-5F47-3B48-A48206CDFC66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FFC66B-5AED-2744-BFAE-4D029775E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6513171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defRPr sz="24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Pladsholder til dato 7">
            <a:extLst>
              <a:ext uri="{FF2B5EF4-FFF2-40B4-BE49-F238E27FC236}">
                <a16:creationId xmlns:a16="http://schemas.microsoft.com/office/drawing/2014/main" id="{2E08A753-BCB9-AF7C-B2E7-E96AE441A1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A29B5240-8D55-E294-932C-E33FA9A3B5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3" name="Pladsholder til slidenummer 12">
            <a:extLst>
              <a:ext uri="{FF2B5EF4-FFF2-40B4-BE49-F238E27FC236}">
                <a16:creationId xmlns:a16="http://schemas.microsoft.com/office/drawing/2014/main" id="{5E4341C0-49C3-7B86-12E9-938EE4813F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06864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venstre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e 6">
            <a:extLst>
              <a:ext uri="{FF2B5EF4-FFF2-40B4-BE49-F238E27FC236}">
                <a16:creationId xmlns:a16="http://schemas.microsoft.com/office/drawing/2014/main" id="{007A8533-68AB-378D-1647-CF2D23CCC072}"/>
              </a:ext>
            </a:extLst>
          </p:cNvPr>
          <p:cNvGrpSpPr>
            <a:grpSpLocks/>
          </p:cNvGrpSpPr>
          <p:nvPr/>
        </p:nvGrpSpPr>
        <p:grpSpPr>
          <a:xfrm flipH="1" flipV="1">
            <a:off x="0" y="0"/>
            <a:ext cx="6023133" cy="6875719"/>
            <a:chOff x="6168866" y="0"/>
            <a:chExt cx="6023133" cy="6875719"/>
          </a:xfrm>
        </p:grpSpPr>
        <p:sp>
          <p:nvSpPr>
            <p:cNvPr id="8" name="Right Triangle 5">
              <a:extLst>
                <a:ext uri="{FF2B5EF4-FFF2-40B4-BE49-F238E27FC236}">
                  <a16:creationId xmlns:a16="http://schemas.microsoft.com/office/drawing/2014/main" id="{628F85BA-B21F-AE7E-9011-A1B5DB2B7A88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0B2FE402-7804-C57F-6F02-4FB1DEEF5C47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14DFB6E2-64E7-8142-9C16-FF850D4F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3" name="Pladsholder til tekst 3">
            <a:extLst>
              <a:ext uri="{FF2B5EF4-FFF2-40B4-BE49-F238E27FC236}">
                <a16:creationId xmlns:a16="http://schemas.microsoft.com/office/drawing/2014/main" id="{32B8AAA8-0DE4-0140-84C9-9A0D444C0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4821" y="900000"/>
            <a:ext cx="6480000" cy="5205378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5FB53F5E-23AB-0F2F-0254-E61B6F6B51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BEFC8083-65C1-9EC0-077C-893912995B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D09ACB56-0D0F-B0E1-DFDA-06DD2EA133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177381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260000"/>
            <a:ext cx="396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1" y="1260000"/>
            <a:ext cx="5983600" cy="4561135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776097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/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612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9999" y="2160000"/>
            <a:ext cx="6120000" cy="3960000"/>
          </a:xfrm>
        </p:spPr>
        <p:txBody>
          <a:bodyPr/>
          <a:lstStyle>
            <a:lvl1pPr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1pPr>
            <a:lvl2pPr marL="720000"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2pPr>
            <a:lvl3pPr marL="1080000" indent="-180000">
              <a:spcBef>
                <a:spcPts val="600"/>
              </a:spcBef>
              <a:buClrTx/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222883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ide med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2FA9A78B-F9F6-E5B5-54E3-EE9FF162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75A12590-BDD9-733D-C482-5F7D499C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FA4C063E-ABD6-B6BC-DE08-BDD64606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B06BEC-9C28-1333-C662-F177D86F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64" y="360000"/>
            <a:ext cx="10273673" cy="553998"/>
          </a:xfrm>
        </p:spPr>
        <p:txBody>
          <a:bodyPr/>
          <a:lstStyle>
            <a:lvl1pPr marL="0" indent="0" algn="ctr">
              <a:tabLst>
                <a:tab pos="4262438" algn="l"/>
              </a:tabLst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195414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med billedbaggrund 3 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Pladsholder til billede 11">
            <a:extLst>
              <a:ext uri="{FF2B5EF4-FFF2-40B4-BE49-F238E27FC236}">
                <a16:creationId xmlns:a16="http://schemas.microsoft.com/office/drawing/2014/main" id="{3E8FA4C9-F9B2-4D3F-C3AA-19AE988B04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896007-EFA9-FB1D-FC40-52612A5A455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2345" y="3959813"/>
            <a:ext cx="3600000" cy="2160000"/>
          </a:xfrm>
          <a:noFill/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B55FCD46-4218-A74F-8005-7EE6E99038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4C2F6B8E-60BF-6AD6-6314-812B1A40DA1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5DF8C4B2-20B3-A074-8048-894F4A3EAE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4E6E068-C30A-5ADC-3DE9-8633E2E0FF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01682" y="3959813"/>
            <a:ext cx="3600000" cy="2160000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60000" indent="0">
              <a:buNone/>
              <a:defRPr sz="1600">
                <a:solidFill>
                  <a:schemeClr val="bg1"/>
                </a:solidFill>
              </a:defRPr>
            </a:lvl3pPr>
            <a:lvl4pPr marL="720000" indent="0">
              <a:buNone/>
              <a:defRPr sz="16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516B58FF-0AC7-55B2-5CCE-E114A490555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01019" y="3959813"/>
            <a:ext cx="3600000" cy="2160588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D9C566-8AD1-2A40-D58B-568EE210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729998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llemside dybblå">
    <p:bg>
      <p:bgPr>
        <a:solidFill>
          <a:srgbClr val="00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Right Triangle 4">
            <a:extLst>
              <a:ext uri="{FF2B5EF4-FFF2-40B4-BE49-F238E27FC236}">
                <a16:creationId xmlns:a16="http://schemas.microsoft.com/office/drawing/2014/main" id="{D65F8924-1F04-8501-B37B-F146F46DDBC3}"/>
              </a:ext>
            </a:extLst>
          </p:cNvPr>
          <p:cNvSpPr/>
          <p:nvPr/>
        </p:nvSpPr>
        <p:spPr>
          <a:xfrm rot="16200000">
            <a:off x="2390148" y="2292681"/>
            <a:ext cx="6875719" cy="2290351"/>
          </a:xfrm>
          <a:prstGeom prst="rtTriangle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58457-07FF-3A96-E142-AEB81C550EDC}"/>
              </a:ext>
            </a:extLst>
          </p:cNvPr>
          <p:cNvSpPr/>
          <p:nvPr/>
        </p:nvSpPr>
        <p:spPr>
          <a:xfrm>
            <a:off x="6973184" y="17716"/>
            <a:ext cx="5218816" cy="6858000"/>
          </a:xfrm>
          <a:prstGeom prst="rect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6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7B8C6AC5-22C4-4C15-1D9D-01CB64A74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72325" b="-7017"/>
          <a:stretch/>
        </p:blipFill>
        <p:spPr>
          <a:xfrm>
            <a:off x="5710432" y="5417946"/>
            <a:ext cx="771134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74425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med blå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A3845F0-3DF9-4646-ABC5-AF439DC6FB63}"/>
              </a:ext>
            </a:extLst>
          </p:cNvPr>
          <p:cNvSpPr/>
          <p:nvPr/>
        </p:nvSpPr>
        <p:spPr>
          <a:xfrm>
            <a:off x="0" y="-12880"/>
            <a:ext cx="4133611" cy="6870879"/>
          </a:xfrm>
          <a:custGeom>
            <a:avLst/>
            <a:gdLst>
              <a:gd name="connsiteX0" fmla="*/ 0 w 3348000"/>
              <a:gd name="connsiteY0" fmla="*/ 0 h 6858000"/>
              <a:gd name="connsiteX1" fmla="*/ 3348000 w 3348000"/>
              <a:gd name="connsiteY1" fmla="*/ 0 h 6858000"/>
              <a:gd name="connsiteX2" fmla="*/ 3348000 w 3348000"/>
              <a:gd name="connsiteY2" fmla="*/ 6858000 h 6858000"/>
              <a:gd name="connsiteX3" fmla="*/ 0 w 3348000"/>
              <a:gd name="connsiteY3" fmla="*/ 6858000 h 6858000"/>
              <a:gd name="connsiteX4" fmla="*/ 0 w 3348000"/>
              <a:gd name="connsiteY4" fmla="*/ 0 h 6858000"/>
              <a:gd name="connsiteX0" fmla="*/ 0 w 4133611"/>
              <a:gd name="connsiteY0" fmla="*/ 12879 h 6870879"/>
              <a:gd name="connsiteX1" fmla="*/ 4133611 w 4133611"/>
              <a:gd name="connsiteY1" fmla="*/ 0 h 6870879"/>
              <a:gd name="connsiteX2" fmla="*/ 3348000 w 4133611"/>
              <a:gd name="connsiteY2" fmla="*/ 6870879 h 6870879"/>
              <a:gd name="connsiteX3" fmla="*/ 0 w 4133611"/>
              <a:gd name="connsiteY3" fmla="*/ 6870879 h 6870879"/>
              <a:gd name="connsiteX4" fmla="*/ 0 w 4133611"/>
              <a:gd name="connsiteY4" fmla="*/ 12879 h 687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3611" h="6870879">
                <a:moveTo>
                  <a:pt x="0" y="12879"/>
                </a:moveTo>
                <a:lnTo>
                  <a:pt x="4133611" y="0"/>
                </a:lnTo>
                <a:lnTo>
                  <a:pt x="3348000" y="6870879"/>
                </a:lnTo>
                <a:lnTo>
                  <a:pt x="0" y="6870879"/>
                </a:lnTo>
                <a:lnTo>
                  <a:pt x="0" y="128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D7BD72E6-1F77-0F4F-99C7-CDE9FC989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1" y="1080000"/>
            <a:ext cx="6769014" cy="5025378"/>
          </a:xfrm>
        </p:spPr>
        <p:txBody>
          <a:bodyPr/>
          <a:lstStyle>
            <a:lvl1pPr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 marL="720000"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 marL="1080000">
              <a:spcBef>
                <a:spcPts val="600"/>
              </a:spcBef>
              <a:buClrTx/>
              <a:defRPr sz="18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5FAD132-7247-4943-8756-FB1B42F4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2726099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2697253C-4240-2DE5-241D-6F79B134E7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E49A80E2-2179-9D0B-A180-333D185AA8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4E9D9BAC-00CB-CF90-33FE-4FD2AF14E5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5412661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uel indlæsning 1">
            <a:extLst>
              <a:ext uri="{FF2B5EF4-FFF2-40B4-BE49-F238E27FC236}">
                <a16:creationId xmlns:a16="http://schemas.microsoft.com/office/drawing/2014/main" id="{C1C202A1-E056-E2E0-858A-B11C91863D7D}"/>
              </a:ext>
            </a:extLst>
          </p:cNvPr>
          <p:cNvSpPr>
            <a:spLocks noChangeAspect="1"/>
          </p:cNvSpPr>
          <p:nvPr/>
        </p:nvSpPr>
        <p:spPr>
          <a:xfrm flipH="1">
            <a:off x="0" y="2708113"/>
            <a:ext cx="12192000" cy="4149887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999" y="1800000"/>
            <a:ext cx="7920000" cy="553998"/>
          </a:xfrm>
          <a:prstGeom prst="rect">
            <a:avLst/>
          </a:prstGeom>
        </p:spPr>
        <p:txBody>
          <a:bodyPr/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63282B2D-EDC0-1744-AB89-A09556139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38276" y="4043190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sp>
        <p:nvSpPr>
          <p:cNvPr id="11" name="Pladsholder til tekst 3">
            <a:extLst>
              <a:ext uri="{FF2B5EF4-FFF2-40B4-BE49-F238E27FC236}">
                <a16:creationId xmlns:a16="http://schemas.microsoft.com/office/drawing/2014/main" id="{D9306688-7C4E-E347-974F-A4462CC48B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1684" y="4043189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549FDC7-8610-6A85-1CD7-C0A6A421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001" y="6120429"/>
            <a:ext cx="2160000" cy="4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3392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side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384E7-0AB4-7441-B5F9-96ACF387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08CDF3-E58D-014E-8ADC-07E0E0415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E16925C-47A6-AB40-8A37-5DFAE88A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6636263-FC36-D172-003C-58D9BBAD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47C7184-ABEE-196E-E69C-81378FA5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6360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3">
            <a:extLst>
              <a:ext uri="{FF2B5EF4-FFF2-40B4-BE49-F238E27FC236}">
                <a16:creationId xmlns:a16="http://schemas.microsoft.com/office/drawing/2014/main" id="{071DDF98-399A-73C1-6A76-0D87F5D23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0000" y="635634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3" name="Pladsholder til slidenummer 5">
            <a:extLst>
              <a:ext uri="{FF2B5EF4-FFF2-40B4-BE49-F238E27FC236}">
                <a16:creationId xmlns:a16="http://schemas.microsoft.com/office/drawing/2014/main" id="{06F05687-C8C9-2987-EB9A-C509041A4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8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4" name="Pladsholder til sidefod 6">
            <a:extLst>
              <a:ext uri="{FF2B5EF4-FFF2-40B4-BE49-F238E27FC236}">
                <a16:creationId xmlns:a16="http://schemas.microsoft.com/office/drawing/2014/main" id="{CECDAB00-7182-687F-414F-D6394BD24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/>
              <a:t>cybersikker.alexandra.dk</a:t>
            </a:r>
          </a:p>
        </p:txBody>
      </p:sp>
    </p:spTree>
    <p:extLst>
      <p:ext uri="{BB962C8B-B14F-4D97-AF65-F5344CB8AC3E}">
        <p14:creationId xmlns:p14="http://schemas.microsoft.com/office/powerpoint/2010/main" val="3308425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3">
            <a:extLst>
              <a:ext uri="{FF2B5EF4-FFF2-40B4-BE49-F238E27FC236}">
                <a16:creationId xmlns:a16="http://schemas.microsoft.com/office/drawing/2014/main" id="{84700FE0-3C32-8F5C-A9D6-F84B59AD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000" y="6356349"/>
            <a:ext cx="2743200" cy="365125"/>
          </a:xfrm>
        </p:spPr>
        <p:txBody>
          <a:bodyPr/>
          <a:lstStyle/>
          <a:p>
            <a:fld id="{2EE2683A-6B2B-964B-B78D-BF9CF3DA3F7B}" type="datetime1">
              <a:rPr lang="da-DK" smtClean="0"/>
              <a:t>17.03.2026</a:t>
            </a:fld>
            <a:endParaRPr lang="da-DK"/>
          </a:p>
        </p:txBody>
      </p:sp>
      <p:sp>
        <p:nvSpPr>
          <p:cNvPr id="6" name="Pladsholder til sidefod 7">
            <a:extLst>
              <a:ext uri="{FF2B5EF4-FFF2-40B4-BE49-F238E27FC236}">
                <a16:creationId xmlns:a16="http://schemas.microsoft.com/office/drawing/2014/main" id="{59524C84-CFEB-9940-04C5-D411D7EF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7" name="Pladsholder til slidenummer 8">
            <a:extLst>
              <a:ext uri="{FF2B5EF4-FFF2-40B4-BE49-F238E27FC236}">
                <a16:creationId xmlns:a16="http://schemas.microsoft.com/office/drawing/2014/main" id="{1CF4CAFC-21EA-E01D-3132-21873B0A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815" y="6356350"/>
            <a:ext cx="2743200" cy="365125"/>
          </a:xfrm>
        </p:spPr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2" name="Dokument 1">
            <a:extLst>
              <a:ext uri="{FF2B5EF4-FFF2-40B4-BE49-F238E27FC236}">
                <a16:creationId xmlns:a16="http://schemas.microsoft.com/office/drawing/2014/main" id="{C5BA8FC3-060D-F0A5-8322-9D30A0E1929B}"/>
              </a:ext>
            </a:extLst>
          </p:cNvPr>
          <p:cNvSpPr/>
          <p:nvPr userDrawn="1"/>
        </p:nvSpPr>
        <p:spPr>
          <a:xfrm rot="10800000" flipH="1">
            <a:off x="0" y="4067175"/>
            <a:ext cx="12191999" cy="2790825"/>
          </a:xfrm>
          <a:prstGeom prst="flowChartDocument">
            <a:avLst/>
          </a:prstGeom>
          <a:solidFill>
            <a:srgbClr val="0038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F58C07F-51C5-9418-EE26-0A4AF7500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2506824"/>
            <a:ext cx="2283038" cy="941136"/>
          </a:xfrm>
        </p:spPr>
        <p:txBody>
          <a:bodyPr/>
          <a:lstStyle>
            <a:lvl1pPr>
              <a:defRPr>
                <a:solidFill>
                  <a:srgbClr val="003843"/>
                </a:solidFill>
              </a:defRPr>
            </a:lvl1pPr>
          </a:lstStyle>
          <a:p>
            <a:r>
              <a:rPr lang="da-DK"/>
              <a:t>Kontakt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526AB892-77E9-213C-01EC-851AF19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2622287"/>
            <a:ext cx="3124200" cy="14935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323A5C4-9B4E-1258-C4C2-C5DB2E0EA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344053"/>
            <a:ext cx="2808000" cy="241041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D671E023-46C6-ED0A-AB96-BDE486EB933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249" y="3048642"/>
            <a:ext cx="1926327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6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noProof="0"/>
              <a:t>Klik for at redigere</a:t>
            </a:r>
          </a:p>
          <a:p>
            <a:pPr lvl="2"/>
            <a:r>
              <a:rPr lang="da-DK" noProof="0"/>
              <a:t>Andet niveau</a:t>
            </a:r>
          </a:p>
          <a:p>
            <a:pPr lvl="3"/>
            <a:r>
              <a:rPr lang="da-DK" noProof="0"/>
              <a:t>Tredje niveau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B6D30-42BF-CA45-976E-18C42243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da-DK"/>
          </a:p>
        </p:txBody>
      </p:sp>
      <p:sp>
        <p:nvSpPr>
          <p:cNvPr id="5" name="Pladsholder til dato 33">
            <a:extLst>
              <a:ext uri="{FF2B5EF4-FFF2-40B4-BE49-F238E27FC236}">
                <a16:creationId xmlns:a16="http://schemas.microsoft.com/office/drawing/2014/main" id="{52560EC3-C564-7D2C-3E25-B5570F0A3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1466" y="6557851"/>
            <a:ext cx="2889068" cy="182562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9" name="Pladsholder til sidefod 34">
            <a:extLst>
              <a:ext uri="{FF2B5EF4-FFF2-40B4-BE49-F238E27FC236}">
                <a16:creationId xmlns:a16="http://schemas.microsoft.com/office/drawing/2014/main" id="{93A74E4A-F71B-4F89-2B52-996CFE61B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345" y="6557851"/>
            <a:ext cx="3138687" cy="182562"/>
          </a:xfrm>
          <a:prstGeom prst="rect">
            <a:avLst/>
          </a:prstGeom>
        </p:spPr>
        <p:txBody>
          <a:bodyPr/>
          <a:lstStyle>
            <a:lvl1pPr algn="l">
              <a:defRPr sz="800" cap="all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cybersikker.alexandra.dk</a:t>
            </a:r>
          </a:p>
        </p:txBody>
      </p:sp>
      <p:sp>
        <p:nvSpPr>
          <p:cNvPr id="10" name="Pladsholder til slidenummer 35">
            <a:extLst>
              <a:ext uri="{FF2B5EF4-FFF2-40B4-BE49-F238E27FC236}">
                <a16:creationId xmlns:a16="http://schemas.microsoft.com/office/drawing/2014/main" id="{3813305E-16A2-1B20-40D8-1AC807D54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5251" y="6567126"/>
            <a:ext cx="1944404" cy="2154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678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4" r:id="rId18"/>
    <p:sldLayoutId id="2147483653" r:id="rId19"/>
    <p:sldLayoutId id="2147483660" r:id="rId20"/>
  </p:sldLayoutIdLst>
  <p:hf hdr="0"/>
  <p:txStyles>
    <p:titleStyle>
      <a:lvl1pPr marL="0" algn="l" defTabSz="457200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baseline="0" dirty="0">
          <a:solidFill>
            <a:srgbClr val="343434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36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  <a:lvl2pPr marL="327538" indent="-360000" algn="l" defTabSz="457200" rtl="0" eaLnBrk="1" latinLnBrk="0" hangingPunct="1">
        <a:lnSpc>
          <a:spcPct val="114000"/>
        </a:lnSpc>
        <a:spcBef>
          <a:spcPts val="1176"/>
        </a:spcBef>
        <a:buClr>
          <a:srgbClr val="D7643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72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20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3pPr>
      <a:lvl4pPr marL="1080000" indent="-360000" algn="l" defTabSz="457200" rtl="0" eaLnBrk="1" latinLnBrk="0" hangingPunct="1">
        <a:lnSpc>
          <a:spcPct val="114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tabLst/>
        <a:defRPr sz="18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4pPr>
      <a:lvl5pPr marL="0" indent="0" algn="l" defTabSz="457200" rtl="0" eaLnBrk="1" latinLnBrk="0" hangingPunct="1">
        <a:lnSpc>
          <a:spcPct val="114000"/>
        </a:lnSpc>
        <a:spcBef>
          <a:spcPct val="20000"/>
        </a:spcBef>
        <a:buClr>
          <a:srgbClr val="D76432"/>
        </a:buClr>
        <a:buFont typeface="Arial" panose="020B0604020202020204" pitchFamily="34" charset="0"/>
        <a:buNone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A6F88-AA06-B15D-E6B4-81179AB8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B134C01-DCF9-EBB3-B599-22355F71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8" y="390038"/>
            <a:ext cx="10584015" cy="553998"/>
          </a:xfrm>
        </p:spPr>
        <p:txBody>
          <a:bodyPr/>
          <a:lstStyle/>
          <a:p>
            <a:r>
              <a:rPr lang="da-DK" noProof="0">
                <a:latin typeface="Arial"/>
                <a:ea typeface="Verdana"/>
                <a:cs typeface="Arial"/>
              </a:rPr>
              <a:t>Agenda: Dag 2</a:t>
            </a:r>
            <a:endParaRPr lang="da-DK" noProof="0"/>
          </a:p>
        </p:txBody>
      </p:sp>
      <p:graphicFrame>
        <p:nvGraphicFramePr>
          <p:cNvPr id="12" name="Pladsholder til indhold 11">
            <a:extLst>
              <a:ext uri="{FF2B5EF4-FFF2-40B4-BE49-F238E27FC236}">
                <a16:creationId xmlns:a16="http://schemas.microsoft.com/office/drawing/2014/main" id="{FD0F3D2A-80BC-E81B-5707-D4038016C2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112490"/>
              </p:ext>
            </p:extLst>
          </p:nvPr>
        </p:nvGraphicFramePr>
        <p:xfrm>
          <a:off x="1245463" y="1033711"/>
          <a:ext cx="10238550" cy="4787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249">
                  <a:extLst>
                    <a:ext uri="{9D8B030D-6E8A-4147-A177-3AD203B41FA5}">
                      <a16:colId xmlns:a16="http://schemas.microsoft.com/office/drawing/2014/main" val="3568212222"/>
                    </a:ext>
                  </a:extLst>
                </a:gridCol>
                <a:gridCol w="6200549">
                  <a:extLst>
                    <a:ext uri="{9D8B030D-6E8A-4147-A177-3AD203B41FA5}">
                      <a16:colId xmlns:a16="http://schemas.microsoft.com/office/drawing/2014/main" val="3991436401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648554971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r>
                        <a:rPr lang="da-DK" noProof="0"/>
                        <a:t>Tidspunkt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Emne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83505"/>
                  </a:ext>
                </a:extLst>
              </a:tr>
              <a:tr h="372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8.30-9.00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da-DK" noProof="0" err="1"/>
                        <a:t>Webapplikationstesting</a:t>
                      </a:r>
                      <a:r>
                        <a:rPr lang="da-DK" noProof="0"/>
                        <a:t> m. OWASP og Juice 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/>
                        <a:t>Oplæg+opgaver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2173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9.00-9.15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da-DK" noProof="0" err="1"/>
                        <a:t>Webapplikationstesting</a:t>
                      </a:r>
                      <a:r>
                        <a:rPr lang="da-DK" noProof="0"/>
                        <a:t> m. </a:t>
                      </a:r>
                      <a:r>
                        <a:rPr lang="da-DK" noProof="0" err="1"/>
                        <a:t>devtools</a:t>
                      </a:r>
                      <a:endParaRPr lang="da-DK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031534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9.15-9.45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da-DK" noProof="0" err="1"/>
                        <a:t>Improper</a:t>
                      </a:r>
                      <a:r>
                        <a:rPr lang="da-DK" noProof="0"/>
                        <a:t> Input </a:t>
                      </a:r>
                      <a:r>
                        <a:rPr lang="da-DK" noProof="0" err="1"/>
                        <a:t>Validation</a:t>
                      </a:r>
                      <a:endParaRPr lang="da-DK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Oplæg+opgaver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154362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9.45-10.00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da-DK" noProof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9222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10.00-11.30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a-DK" noProof="0" err="1"/>
                        <a:t>Injection</a:t>
                      </a:r>
                      <a:r>
                        <a:rPr lang="da-DK" noProof="0"/>
                        <a:t> og XSS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/>
                        <a:t>Oplæg+opgaver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76553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/>
                        <a:t>11.30-12:00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da-DK" noProof="0" err="1"/>
                        <a:t>Webapplikationstesting</a:t>
                      </a:r>
                      <a:r>
                        <a:rPr lang="da-DK" noProof="0"/>
                        <a:t> m. </a:t>
                      </a:r>
                      <a:r>
                        <a:rPr lang="da-DK" noProof="0" err="1"/>
                        <a:t>Burp</a:t>
                      </a:r>
                      <a:r>
                        <a:rPr lang="da-DK" noProof="0"/>
                        <a:t>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da-DK" noProof="0"/>
                        <a:t>Oplæg+opgaver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4217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12:00-12.45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da-DK" noProof="0"/>
                        <a:t>Frokost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760828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/>
                        <a:t>12.45-13.30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da-DK" noProof="0"/>
                        <a:t>Improper Input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Opgaver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634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13.30-14:15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da-DK" noProof="0"/>
                        <a:t>XSS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/>
                        <a:t>Opgaver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79610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/>
                        <a:t>14:15-14:30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noProof="0"/>
                        <a:t>Pause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534110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/>
                        <a:t>14:30-15:30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noProof="0"/>
                        <a:t>Sessionshåndtering og 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noProof="0"/>
                        <a:t>Oplæg+opgaver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279229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/>
                        <a:t>15:30-16:00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noProof="0"/>
                        <a:t>Password 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noProof="0"/>
                        <a:t>Opgaver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644815"/>
                  </a:ext>
                </a:extLst>
              </a:tr>
            </a:tbl>
          </a:graphicData>
        </a:graphic>
      </p:graphicFrame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26B0AB6-813B-FFDB-880E-47131A78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D938-B50E-D842-AEDC-C3B711F6BEE0}" type="datetime1">
              <a:rPr lang="da-DK" noProof="0" smtClean="0"/>
              <a:t>17.03.2026</a:t>
            </a:fld>
            <a:endParaRPr lang="da-DK" noProof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656715-780E-05FF-7B08-297D7C77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222B0D2-542E-6A26-0021-F941D109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26862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E935C-07D1-11DA-414F-DED193F2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6B0B-49EF-0BDB-7FE9-6C939B03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err="1"/>
              <a:t>Webapplikationstesting</a:t>
            </a:r>
            <a:br>
              <a:rPr lang="da-DK"/>
            </a:br>
            <a:r>
              <a:rPr lang="da-DK"/>
              <a:t>m. OWASP og </a:t>
            </a:r>
            <a:r>
              <a:rPr lang="da-DK" err="1"/>
              <a:t>JuiceShop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11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9A794-FFE0-C860-278E-0BF01E8C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Webapplikations-testing (</a:t>
            </a:r>
            <a:r>
              <a:rPr lang="da-DK" dirty="0" err="1"/>
              <a:t>pentesting</a:t>
            </a:r>
            <a:r>
              <a:rPr lang="da-DK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71B8-6380-BEA3-45E6-F2EF1D7D20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Hvad er </a:t>
            </a:r>
            <a:r>
              <a:rPr lang="da-DK" dirty="0" err="1"/>
              <a:t>pentesting</a:t>
            </a:r>
            <a:r>
              <a:rPr lang="da-DK" dirty="0"/>
              <a:t> og hvorfor skal man vide noget om det?</a:t>
            </a:r>
          </a:p>
          <a:p>
            <a:r>
              <a:rPr lang="da-DK" dirty="0"/>
              <a:t>Hvad må man </a:t>
            </a:r>
            <a:r>
              <a:rPr lang="da-DK" dirty="0" err="1"/>
              <a:t>penteste</a:t>
            </a:r>
            <a:r>
              <a:rPr lang="da-DK" dirty="0"/>
              <a:t>?</a:t>
            </a:r>
          </a:p>
          <a:p>
            <a:r>
              <a:rPr lang="da-DK" dirty="0"/>
              <a:t>Hvornår må man </a:t>
            </a:r>
            <a:r>
              <a:rPr lang="da-DK" dirty="0" err="1"/>
              <a:t>penteste</a:t>
            </a:r>
            <a:r>
              <a:rPr lang="da-DK" dirty="0"/>
              <a:t>?</a:t>
            </a:r>
          </a:p>
          <a:p>
            <a:r>
              <a:rPr lang="da-DK" dirty="0"/>
              <a:t>Bug </a:t>
            </a:r>
            <a:r>
              <a:rPr lang="da-DK" dirty="0" err="1"/>
              <a:t>bounties</a:t>
            </a:r>
            <a:endParaRPr lang="da-DK" dirty="0"/>
          </a:p>
          <a:p>
            <a:r>
              <a:rPr lang="da-DK" dirty="0" err="1"/>
              <a:t>Responsible</a:t>
            </a:r>
            <a:r>
              <a:rPr lang="da-DK" dirty="0"/>
              <a:t> </a:t>
            </a:r>
            <a:r>
              <a:rPr lang="da-DK" dirty="0" err="1"/>
              <a:t>disclosure</a:t>
            </a:r>
            <a:endParaRPr lang="da-DK" dirty="0"/>
          </a:p>
          <a:p>
            <a:r>
              <a:rPr lang="da-DK" dirty="0"/>
              <a:t>Security.txt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9AA9-DCB8-4DB5-4C8C-50A79BC7913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D5A0-DF38-E120-0BA1-B78FFE1FE2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3BA44-9F7E-3E40-11A5-F11AEACD59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382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6E11-F05F-EB94-9C5F-77A82CAB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 err="1"/>
              <a:t>Pentestfaser</a:t>
            </a:r>
            <a:r>
              <a:rPr lang="da-DK" dirty="0"/>
              <a:t> og værktøjer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BC47C-7F39-CA83-D638-4A48C21E84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Recon</a:t>
            </a:r>
            <a:r>
              <a:rPr lang="da-DK" dirty="0"/>
              <a:t> og Discovery </a:t>
            </a:r>
          </a:p>
          <a:p>
            <a:pPr lvl="1"/>
            <a:r>
              <a:rPr lang="da-DK" dirty="0"/>
              <a:t>“</a:t>
            </a:r>
            <a:r>
              <a:rPr lang="da-DK" dirty="0" err="1"/>
              <a:t>Happy</a:t>
            </a:r>
            <a:r>
              <a:rPr lang="da-DK" dirty="0"/>
              <a:t> path”</a:t>
            </a:r>
          </a:p>
          <a:p>
            <a:pPr lvl="1"/>
            <a:r>
              <a:rPr lang="da-DK" dirty="0" err="1"/>
              <a:t>Mapping</a:t>
            </a:r>
            <a:endParaRPr lang="da-DK" dirty="0"/>
          </a:p>
          <a:p>
            <a:pPr lvl="1"/>
            <a:r>
              <a:rPr lang="da-DK" dirty="0" err="1"/>
              <a:t>Probing</a:t>
            </a:r>
            <a:endParaRPr lang="da-DK" dirty="0"/>
          </a:p>
          <a:p>
            <a:r>
              <a:rPr lang="da-DK" dirty="0"/>
              <a:t>Analyse </a:t>
            </a:r>
          </a:p>
          <a:p>
            <a:r>
              <a:rPr lang="da-DK" dirty="0" err="1"/>
              <a:t>Exploit</a:t>
            </a:r>
            <a:endParaRPr lang="da-DK" dirty="0"/>
          </a:p>
          <a:p>
            <a:r>
              <a:rPr lang="da-DK" dirty="0"/>
              <a:t>Dokumentation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7CD58-98DE-CE6F-C352-FCC2294720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41EBC-38DA-89D5-41F3-9E7BE265DD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55B2C-894A-4A54-7B09-71BF65BCFF4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068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6E11-F05F-EB94-9C5F-77A82CAB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 err="1"/>
              <a:t>Pentestfaser</a:t>
            </a:r>
            <a:r>
              <a:rPr lang="da-DK" dirty="0"/>
              <a:t> og værktøjer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BC47C-7F39-CA83-D638-4A48C21E84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 err="1">
                <a:latin typeface="Arial"/>
                <a:ea typeface="Tahoma"/>
                <a:cs typeface="Arial"/>
              </a:rPr>
              <a:t>Recon</a:t>
            </a:r>
            <a:r>
              <a:rPr lang="da-DK" dirty="0">
                <a:latin typeface="Arial"/>
                <a:ea typeface="Tahoma"/>
                <a:cs typeface="Arial"/>
              </a:rPr>
              <a:t> og Discovery 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1" indent="-359410"/>
            <a:r>
              <a:rPr lang="da-DK">
                <a:latin typeface="Arial"/>
                <a:cs typeface="Arial"/>
              </a:rPr>
              <a:t>Portscanner (nmap)</a:t>
            </a:r>
          </a:p>
          <a:p>
            <a:pPr marL="719455" lvl="1" indent="-359410"/>
            <a:r>
              <a:rPr lang="da-DK" err="1">
                <a:latin typeface="Arial"/>
                <a:cs typeface="Arial"/>
              </a:rPr>
              <a:t>Fuzzere</a:t>
            </a:r>
            <a:r>
              <a:rPr lang="da-DK" dirty="0">
                <a:latin typeface="Arial"/>
                <a:cs typeface="Arial"/>
              </a:rPr>
              <a:t> (</a:t>
            </a:r>
            <a:r>
              <a:rPr lang="da-DK" err="1">
                <a:latin typeface="Arial"/>
                <a:cs typeface="Arial"/>
              </a:rPr>
              <a:t>ffuf</a:t>
            </a:r>
            <a:r>
              <a:rPr lang="da-DK" dirty="0">
                <a:latin typeface="Arial"/>
                <a:cs typeface="Arial"/>
              </a:rPr>
              <a:t>, </a:t>
            </a:r>
            <a:r>
              <a:rPr lang="da-DK" err="1">
                <a:latin typeface="Arial"/>
                <a:cs typeface="Arial"/>
              </a:rPr>
              <a:t>dirbuster</a:t>
            </a:r>
            <a:r>
              <a:rPr lang="da-DK" dirty="0">
                <a:latin typeface="Arial"/>
                <a:cs typeface="Arial"/>
              </a:rPr>
              <a:t>)</a:t>
            </a:r>
          </a:p>
          <a:p>
            <a:pPr marL="719455" lvl="1" indent="-359410"/>
            <a:r>
              <a:rPr lang="da-DK" dirty="0">
                <a:latin typeface="Arial"/>
                <a:cs typeface="Arial"/>
              </a:rPr>
              <a:t>Proxy (zap, </a:t>
            </a:r>
            <a:r>
              <a:rPr lang="da-DK" err="1">
                <a:latin typeface="Arial"/>
                <a:cs typeface="Arial"/>
              </a:rPr>
              <a:t>burp</a:t>
            </a:r>
            <a:r>
              <a:rPr lang="da-DK" dirty="0">
                <a:latin typeface="Arial"/>
                <a:cs typeface="Arial"/>
              </a:rPr>
              <a:t>)</a:t>
            </a:r>
          </a:p>
          <a:p>
            <a:r>
              <a:rPr lang="da-DK" dirty="0"/>
              <a:t>Analyse</a:t>
            </a:r>
          </a:p>
          <a:p>
            <a:pPr marL="719455" lvl="1" indent="-359410"/>
            <a:r>
              <a:rPr lang="da-DK" dirty="0">
                <a:latin typeface="Arial"/>
                <a:cs typeface="Arial"/>
              </a:rPr>
              <a:t>Browser (</a:t>
            </a:r>
            <a:r>
              <a:rPr lang="da-DK" err="1">
                <a:latin typeface="Arial"/>
                <a:cs typeface="Arial"/>
              </a:rPr>
              <a:t>devtools</a:t>
            </a:r>
            <a:r>
              <a:rPr lang="da-DK" dirty="0">
                <a:latin typeface="Arial"/>
                <a:cs typeface="Arial"/>
              </a:rPr>
              <a:t>)</a:t>
            </a:r>
          </a:p>
          <a:p>
            <a:pPr lvl="1"/>
            <a:r>
              <a:rPr lang="da-DK" dirty="0"/>
              <a:t>Proxy </a:t>
            </a:r>
          </a:p>
          <a:p>
            <a:pPr marL="359410" indent="-359410"/>
            <a:r>
              <a:rPr lang="da-DK" err="1">
                <a:latin typeface="Arial"/>
                <a:ea typeface="Tahoma"/>
                <a:cs typeface="Arial"/>
              </a:rPr>
              <a:t>Exploit</a:t>
            </a:r>
            <a:endParaRPr lang="da-DK">
              <a:latin typeface="Arial"/>
              <a:ea typeface="Tahoma"/>
              <a:cs typeface="Arial"/>
            </a:endParaRPr>
          </a:p>
          <a:p>
            <a:pPr marL="719455" lvl="1" indent="-359410"/>
            <a:r>
              <a:rPr lang="da-DK" err="1">
                <a:latin typeface="Arial"/>
                <a:cs typeface="Arial"/>
              </a:rPr>
              <a:t>Metasploit</a:t>
            </a:r>
            <a:endParaRPr lang="da-DK">
              <a:latin typeface="Arial"/>
              <a:cs typeface="Arial"/>
            </a:endParaRPr>
          </a:p>
          <a:p>
            <a:pPr lvl="1"/>
            <a:endParaRPr lang="da-DK" dirty="0"/>
          </a:p>
          <a:p>
            <a:r>
              <a:rPr lang="da-DK" dirty="0"/>
              <a:t>Kali har det meste ud af boksen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7CD58-98DE-CE6F-C352-FCC2294720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41EBC-38DA-89D5-41F3-9E7BE265DD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55B2C-894A-4A54-7B09-71BF65BCFF4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33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1EB2-8E3C-D22C-B51C-A20B1D0EA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OWASP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3C44D-9D65-25EE-B2CE-320ACA1B2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Hvad er OWASP?</a:t>
            </a:r>
          </a:p>
          <a:p>
            <a:pPr lvl="1"/>
            <a:r>
              <a:rPr lang="da-DK" dirty="0"/>
              <a:t>Globalt, frivilligt</a:t>
            </a:r>
          </a:p>
          <a:p>
            <a:pPr lvl="1"/>
            <a:r>
              <a:rPr lang="da-DK" dirty="0"/>
              <a:t>OWASP Aarhus, København</a:t>
            </a:r>
          </a:p>
          <a:p>
            <a:r>
              <a:rPr lang="da-DK" dirty="0"/>
              <a:t>Projekter (og “flagships”)</a:t>
            </a:r>
          </a:p>
          <a:p>
            <a:pPr lvl="1"/>
            <a:r>
              <a:rPr lang="da-DK" dirty="0"/>
              <a:t>OWASP top 10</a:t>
            </a:r>
          </a:p>
          <a:p>
            <a:pPr lvl="1"/>
            <a:r>
              <a:rPr lang="da-DK" dirty="0"/>
              <a:t>OWASP Juice Shop</a:t>
            </a:r>
          </a:p>
          <a:p>
            <a:r>
              <a:rPr lang="da-DK" dirty="0"/>
              <a:t>Andre OWASP værktøjer</a:t>
            </a:r>
          </a:p>
          <a:p>
            <a:pPr lvl="1"/>
            <a:r>
              <a:rPr lang="da-DK" dirty="0" err="1"/>
              <a:t>DependencyCheck</a:t>
            </a:r>
            <a:endParaRPr lang="da-DK" dirty="0"/>
          </a:p>
          <a:p>
            <a:pPr lvl="1"/>
            <a:r>
              <a:rPr lang="da-DK" dirty="0"/>
              <a:t>WAF</a:t>
            </a:r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7FA0-E093-B0D0-38F5-52FE209A12B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49E8-20DC-842B-B48D-E3FA068577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F3411-BDDC-18CC-3D01-9E122A937D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7278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C94F5-0A06-932A-B5B8-CBCA8CA1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/>
              <a:t>OWASP </a:t>
            </a:r>
            <a:br>
              <a:rPr lang="da-DK" dirty="0"/>
            </a:br>
            <a:r>
              <a:rPr lang="da-DK" dirty="0"/>
              <a:t>Juice Shop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A205C-34B2-7180-8C29-1DB0714CE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 err="1">
                <a:latin typeface="Arial"/>
                <a:ea typeface="Tahoma"/>
                <a:cs typeface="Arial"/>
              </a:rPr>
              <a:t>Challenges</a:t>
            </a:r>
            <a:endParaRPr lang="da-DK">
              <a:latin typeface="Arial"/>
              <a:ea typeface="Tahoma"/>
              <a:cs typeface="Arial"/>
            </a:endParaRPr>
          </a:p>
          <a:p>
            <a:pPr lvl="1"/>
            <a:r>
              <a:rPr lang="da-DK" dirty="0"/>
              <a:t>Hints</a:t>
            </a:r>
          </a:p>
          <a:p>
            <a:pPr marL="719455" lvl="1" indent="-359410">
              <a:lnSpc>
                <a:spcPct val="113999"/>
              </a:lnSpc>
            </a:pPr>
            <a:r>
              <a:rPr lang="da-DK">
                <a:latin typeface="Arial"/>
                <a:cs typeface="Arial"/>
              </a:rPr>
              <a:t>Tutorials</a:t>
            </a:r>
            <a:endParaRPr lang="da-DK" dirty="0">
              <a:latin typeface="Arial"/>
              <a:cs typeface="Arial"/>
            </a:endParaRPr>
          </a:p>
          <a:p>
            <a:pPr marL="719455" lvl="1" indent="-359410"/>
            <a:r>
              <a:rPr lang="da-DK" err="1">
                <a:latin typeface="Arial"/>
                <a:cs typeface="Arial"/>
              </a:rPr>
              <a:t>Tracking</a:t>
            </a:r>
            <a:endParaRPr lang="da-DK">
              <a:latin typeface="Arial"/>
              <a:cs typeface="Arial"/>
            </a:endParaRPr>
          </a:p>
          <a:p>
            <a:pPr lvl="1"/>
            <a:r>
              <a:rPr lang="da-DK" dirty="0"/>
              <a:t>Sværhedsgrader</a:t>
            </a:r>
          </a:p>
          <a:p>
            <a:pPr marL="719455" lvl="1" indent="-359410">
              <a:lnSpc>
                <a:spcPct val="113999"/>
              </a:lnSpc>
            </a:pPr>
            <a:r>
              <a:rPr lang="da-DK">
                <a:latin typeface="Arial"/>
                <a:cs typeface="Arial"/>
              </a:rPr>
              <a:t>Kategorier/filtrering</a:t>
            </a:r>
            <a:endParaRPr lang="da-DK" dirty="0">
              <a:latin typeface="Arial"/>
              <a:cs typeface="Arial"/>
            </a:endParaRPr>
          </a:p>
          <a:p>
            <a:pPr marL="719455" lvl="1" indent="-359410"/>
            <a:r>
              <a:rPr lang="da-DK" err="1">
                <a:latin typeface="Arial"/>
                <a:cs typeface="Arial"/>
              </a:rPr>
              <a:t>Kodechallenges</a:t>
            </a:r>
            <a:endParaRPr lang="da-DK">
              <a:latin typeface="Arial"/>
              <a:cs typeface="Arial"/>
            </a:endParaRPr>
          </a:p>
          <a:p>
            <a:pPr marL="719455" lvl="1" indent="-359410">
              <a:lnSpc>
                <a:spcPct val="113999"/>
              </a:lnSpc>
            </a:pPr>
            <a:endParaRPr lang="da-DK" dirty="0">
              <a:latin typeface="Arial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Dybde/bredde</a:t>
            </a:r>
            <a:endParaRPr lang="da-DK" dirty="0">
              <a:latin typeface="Arial"/>
              <a:cs typeface="Arial"/>
            </a:endParaRPr>
          </a:p>
          <a:p>
            <a:r>
              <a:rPr lang="da-DK" dirty="0"/>
              <a:t>NB: indtast aldrig personlig information i juice shop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FAA15-D5D2-E93F-306E-CBA66BA027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82C31-8294-1940-B936-15EB9ED332B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E867-9966-3319-2CE3-7C2D81DF0F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259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B257-E385-FB53-0D91-000321348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Logging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41DF6-C6D7-5FA5-9345-F9463EB7C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Hvad skal logges?</a:t>
            </a:r>
          </a:p>
          <a:p>
            <a:r>
              <a:rPr lang="da-DK" dirty="0" err="1"/>
              <a:t>Logging</a:t>
            </a:r>
            <a:r>
              <a:rPr lang="da-DK" dirty="0"/>
              <a:t> kontra dropping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AD0AA-263A-B4B7-0FED-AA843B05B7D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0C04A-6DF7-6FC7-7315-3D292BED44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8CB5B-F0FD-9ED4-36C5-A7BD09BA01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34697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9F9E-A361-EEA9-65DA-F403B0F8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/>
              <a:t>Øvelse</a:t>
            </a:r>
            <a:br>
              <a:rPr lang="da-DK" dirty="0"/>
            </a:br>
            <a:r>
              <a:rPr lang="da-DK" dirty="0" err="1"/>
              <a:t>Setup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23ED7-E415-C449-38B9-0F67ADC62A6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557963"/>
            <a:ext cx="2889250" cy="182562"/>
          </a:xfrm>
        </p:spPr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51843-76E5-8941-40CE-B6992080F5B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7963"/>
            <a:ext cx="3140075" cy="182562"/>
          </a:xfrm>
        </p:spPr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19317-0B5E-16AA-35B1-A072250AB1B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D9FF5FAE-2060-B54F-BDDB-0825BCE6ACB8}" type="slidenum">
              <a:rPr lang="da-DK" smtClean="0"/>
              <a:pPr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2299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60BE-3CF9-FE4E-F98E-D870D6C6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err="1"/>
              <a:t>Webapplikationstesting</a:t>
            </a:r>
            <a:br>
              <a:rPr lang="da-DK"/>
            </a:br>
            <a:r>
              <a:rPr lang="da-DK"/>
              <a:t>m. </a:t>
            </a:r>
            <a:r>
              <a:rPr lang="da-DK" err="1"/>
              <a:t>devtools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4081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6BB6-FA5C-5AA1-6092-AD933ADF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Devtools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FB893-1318-28E4-D577-A4E09BDE7A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a-DK" dirty="0"/>
              <a:t>HTTP</a:t>
            </a:r>
          </a:p>
          <a:p>
            <a:pPr marL="719455" lvl="1" indent="-359410"/>
            <a:r>
              <a:rPr lang="da-DK" err="1">
                <a:latin typeface="Arial"/>
                <a:cs typeface="Arial"/>
              </a:rPr>
              <a:t>Request</a:t>
            </a:r>
            <a:r>
              <a:rPr lang="da-DK" dirty="0">
                <a:latin typeface="Arial"/>
                <a:cs typeface="Arial"/>
              </a:rPr>
              <a:t>/</a:t>
            </a:r>
            <a:r>
              <a:rPr lang="da-DK" err="1">
                <a:latin typeface="Arial"/>
                <a:cs typeface="Arial"/>
              </a:rPr>
              <a:t>response</a:t>
            </a:r>
            <a:endParaRPr lang="da-DK">
              <a:latin typeface="Arial"/>
              <a:cs typeface="Arial"/>
            </a:endParaRPr>
          </a:p>
          <a:p>
            <a:pPr marL="1079500" lvl="2" indent="-359410"/>
            <a:r>
              <a:rPr lang="da-DK" err="1">
                <a:latin typeface="Arial"/>
                <a:ea typeface="Tahoma"/>
                <a:cs typeface="Arial"/>
              </a:rPr>
              <a:t>Request</a:t>
            </a:r>
            <a:r>
              <a:rPr lang="da-DK" dirty="0">
                <a:latin typeface="Arial"/>
                <a:ea typeface="Tahoma"/>
                <a:cs typeface="Arial"/>
              </a:rPr>
              <a:t> </a:t>
            </a:r>
            <a:r>
              <a:rPr lang="da-DK" err="1">
                <a:latin typeface="Arial"/>
                <a:ea typeface="Tahoma"/>
                <a:cs typeface="Arial"/>
              </a:rPr>
              <a:t>methods</a:t>
            </a:r>
            <a:r>
              <a:rPr lang="da-DK">
                <a:latin typeface="Arial"/>
                <a:ea typeface="Tahoma"/>
                <a:cs typeface="Arial"/>
              </a:rPr>
              <a:t> (“verbs”); GET, POST, (PUT, UPDATE, ...)</a:t>
            </a:r>
          </a:p>
          <a:p>
            <a:pPr marL="1079500" lvl="2" indent="-359410"/>
            <a:r>
              <a:rPr lang="da-DK" err="1">
                <a:latin typeface="Arial"/>
                <a:ea typeface="Tahoma"/>
                <a:cs typeface="Arial"/>
              </a:rPr>
              <a:t>Response</a:t>
            </a:r>
            <a:r>
              <a:rPr lang="da-DK">
                <a:latin typeface="Arial"/>
                <a:ea typeface="Tahoma"/>
                <a:cs typeface="Arial"/>
              </a:rPr>
              <a:t> codes; 200, 304, 401, 404, 500</a:t>
            </a:r>
          </a:p>
          <a:p>
            <a:pPr marL="719455" lvl="1" indent="-359410"/>
            <a:r>
              <a:rPr lang="da-DK" err="1">
                <a:latin typeface="Arial"/>
                <a:cs typeface="Arial"/>
              </a:rPr>
              <a:t>Headers</a:t>
            </a:r>
            <a:r>
              <a:rPr lang="da-DK" dirty="0">
                <a:latin typeface="Arial"/>
                <a:cs typeface="Arial"/>
              </a:rPr>
              <a:t> and </a:t>
            </a:r>
            <a:r>
              <a:rPr lang="da-DK">
                <a:latin typeface="Arial"/>
                <a:cs typeface="Arial"/>
              </a:rPr>
              <a:t>bodies</a:t>
            </a:r>
          </a:p>
          <a:p>
            <a:pPr marL="719455" lvl="1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Encodings (URL, Base64)</a:t>
            </a:r>
            <a:endParaRPr lang="en-US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Brug 'Network'-tab til at inspicere HTTP requests og responses</a:t>
            </a:r>
            <a:endParaRPr lang="da-DK" dirty="0">
              <a:latin typeface="Arial"/>
              <a:ea typeface="Tahoma"/>
              <a:cs typeface="Arial"/>
            </a:endParaRPr>
          </a:p>
          <a:p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C3AF1-C7A4-3B2E-05FA-B962AEDC76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98012-A7E1-31A8-9604-07C9ABFFB3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4010F-3CF4-0464-3114-2DB1121124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538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B3398-1570-BB05-2151-E85FE943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511DA-5109-1C12-15FD-7F238553676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B4173-0442-66A4-FD79-4A9AB7FFF8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5A75E-401A-3DA4-DEB7-4A9D3C7EDB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12</a:t>
            </a:fld>
            <a:endParaRPr lang="da-DK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D0A498-987F-D9B9-E250-A16F48526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47" y="75270"/>
            <a:ext cx="8513598" cy="909591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2CF71F-7ED7-9057-7150-1776DF04A9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34D3860-A899-532D-AD23-F66C0466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Devtools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81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A8D7-4983-9B8C-34F5-138DD2DCC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FD69-D226-716B-41E0-BA8E3F36654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04BD5-333C-8BEE-2A90-37D3D968C8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9C084-FF25-58C5-C0CE-56CFD8976E7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13</a:t>
            </a:fld>
            <a:endParaRPr lang="da-DK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287A6E6-B685-6DDA-4627-06ECC6417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7358ECD-7287-F510-E395-14DDA12B1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Devtools</a:t>
            </a:r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68D7E9-E62E-50E2-261D-2F20E682D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693" y="696451"/>
            <a:ext cx="7990517" cy="60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10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E45A3-0704-2003-A32F-500111B5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D80D-1127-3B83-D0FB-A3624924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Devtools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41C2-618E-0F7B-F83F-CF184FCC72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42900" indent="-342900"/>
            <a:r>
              <a:rPr lang="da-DK">
                <a:latin typeface="Arial"/>
                <a:ea typeface="Tahoma"/>
                <a:cs typeface="Arial"/>
              </a:rPr>
              <a:t>HTML</a:t>
            </a:r>
            <a:endParaRPr lang="da-DK"/>
          </a:p>
          <a:p>
            <a:pPr marL="719455" lvl="1" indent="-359410"/>
            <a:r>
              <a:rPr lang="da-DK" dirty="0">
                <a:latin typeface="Arial"/>
                <a:cs typeface="Arial"/>
              </a:rPr>
              <a:t>Tags, </a:t>
            </a:r>
            <a:r>
              <a:rPr lang="da-DK">
                <a:latin typeface="Arial"/>
                <a:cs typeface="Arial"/>
              </a:rPr>
              <a:t>attributes</a:t>
            </a:r>
            <a:endParaRPr lang="da-DK" dirty="0">
              <a:latin typeface="Arial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Javascript (JS)</a:t>
            </a:r>
            <a:endParaRPr lang="da-DK" dirty="0">
              <a:latin typeface="Arial"/>
              <a:cs typeface="Arial"/>
            </a:endParaRPr>
          </a:p>
          <a:p>
            <a:pPr marL="719455" lvl="1" indent="-359410">
              <a:lnSpc>
                <a:spcPct val="113999"/>
              </a:lnSpc>
            </a:pPr>
            <a:r>
              <a:rPr lang="da-DK">
                <a:latin typeface="Arial"/>
                <a:cs typeface="Arial"/>
              </a:rPr>
              <a:t>DOM</a:t>
            </a:r>
            <a:endParaRPr lang="da-DK"/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Frontend vs backend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Brug 'Elements'-tab og 'Sources'-tab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359410" indent="-359410"/>
            <a:endParaRPr lang="da-DK"/>
          </a:p>
          <a:p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D0119-BF56-2F8F-66BC-190BA844B8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D6E3C-87CF-BB5F-3918-1FFDD98578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46DFE-BF0E-2A0C-3FF0-D83E79CF45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4554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C78A8-FF5C-8BAB-3526-6D07D3966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56AA-C175-EB70-DA43-82F9F24E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Devtools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256D0-F65D-785C-C51A-57AEA3221E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E1093-8D87-8473-1BEC-125B4940D0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0288-00CD-3825-2904-F6D45AE5765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15</a:t>
            </a:fld>
            <a:endParaRPr lang="da-DK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5F15A4-6686-28F7-29FD-0098DB14D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7" y="2154904"/>
            <a:ext cx="4992212" cy="437945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0C1BDE-B14E-F903-22A1-A6FF19B9A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065" y="751911"/>
            <a:ext cx="8631903" cy="3920308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3D6D00-73A5-18F2-1EE5-4004767F7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71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4FB9-881B-0F98-9BC5-D7AA34EE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Devtools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B8C5-1E12-E852-74F8-097CCF5724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De øvelser vi laver til formiddag kan laves alene med en browser</a:t>
            </a:r>
          </a:p>
          <a:p>
            <a:r>
              <a:rPr lang="da-DK" dirty="0"/>
              <a:t>Specielt behøver man ikke modificere </a:t>
            </a:r>
            <a:r>
              <a:rPr lang="da-DK" dirty="0" err="1"/>
              <a:t>requests</a:t>
            </a:r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DFB8F-7E8D-1CF7-AA73-EB5DACE0365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4CA1F-911F-9928-DC7D-290CD4C92A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F1F14-4DD7-80E4-22F5-9461E1C430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65694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4FB9-881B-0F98-9BC5-D7AA34EE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Devtools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B8C5-1E12-E852-74F8-097CCF5724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 b="1">
                <a:latin typeface="Arial"/>
                <a:ea typeface="Tahoma"/>
                <a:cs typeface="Arial"/>
              </a:rPr>
              <a:t>Brug helst chrome(ium)</a:t>
            </a:r>
            <a:r>
              <a:rPr lang="da-DK">
                <a:latin typeface="Arial"/>
                <a:ea typeface="Tahoma"/>
                <a:cs typeface="Arial"/>
              </a:rPr>
              <a:t>, da Burp Suite (som vi skal bruge senere) har integreret integration med en chromium browser</a:t>
            </a: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Nyttige funktionaliteter</a:t>
            </a:r>
          </a:p>
          <a:p>
            <a:pPr lvl="1"/>
            <a:r>
              <a:rPr lang="da-DK" dirty="0"/>
              <a:t>Elements tab og søgning</a:t>
            </a:r>
          </a:p>
          <a:p>
            <a:pPr lvl="1"/>
            <a:r>
              <a:rPr lang="da-DK" dirty="0"/>
              <a:t>Sources tab og søgning</a:t>
            </a:r>
          </a:p>
          <a:p>
            <a:pPr lvl="1"/>
            <a:r>
              <a:rPr lang="da-DK" dirty="0"/>
              <a:t>Network tab og søgning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DFB8F-7E8D-1CF7-AA73-EB5DACE0365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4CA1F-911F-9928-DC7D-290CD4C92A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F1F14-4DD7-80E4-22F5-9461E1C430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17</a:t>
            </a:fld>
            <a:endParaRPr lang="da-DK"/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1B94C62-D39B-9D3F-8AB0-21ABE172E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98" y="4118911"/>
            <a:ext cx="7455125" cy="273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29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9C8F-6685-E301-6FD3-283D4154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5C26-B06A-2CC3-4EA1-49E5A24AC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Improper</a:t>
            </a:r>
            <a:r>
              <a:rPr lang="da-DK"/>
              <a:t> Input </a:t>
            </a:r>
            <a:r>
              <a:rPr lang="da-DK" err="1"/>
              <a:t>Validation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9086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C1AD-4A6B-4C3B-0BF5-2F1D62AB9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/>
              <a:t>Server vs </a:t>
            </a:r>
            <a:r>
              <a:rPr lang="da-DK" dirty="0" err="1"/>
              <a:t>client</a:t>
            </a:r>
            <a:r>
              <a:rPr lang="da-DK" dirty="0"/>
              <a:t> side validering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65FD0-B689-35E4-960A-92CE9DCDB1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 dirty="0">
                <a:latin typeface="Arial"/>
                <a:ea typeface="Tahoma"/>
                <a:cs typeface="Arial"/>
              </a:rPr>
              <a:t>Input der </a:t>
            </a:r>
            <a:r>
              <a:rPr lang="en-US" dirty="0" err="1">
                <a:latin typeface="Arial"/>
                <a:ea typeface="Tahoma"/>
                <a:cs typeface="Arial"/>
              </a:rPr>
              <a:t>valideres</a:t>
            </a:r>
            <a:r>
              <a:rPr lang="en-US" dirty="0">
                <a:latin typeface="Arial"/>
                <a:ea typeface="Tahoma"/>
                <a:cs typeface="Arial"/>
              </a:rPr>
              <a:t> </a:t>
            </a:r>
            <a:r>
              <a:rPr lang="en-US" dirty="0" err="1">
                <a:latin typeface="Arial"/>
                <a:ea typeface="Tahoma"/>
                <a:cs typeface="Arial"/>
              </a:rPr>
              <a:t>på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klienten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på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ikke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være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kritiske</a:t>
            </a:r>
            <a:endParaRPr lang="en-US" dirty="0"/>
          </a:p>
          <a:p>
            <a:pPr marL="359410" indent="-359410">
              <a:lnSpc>
                <a:spcPct val="113999"/>
              </a:lnSpc>
            </a:pPr>
            <a:r>
              <a:rPr lang="en-US" dirty="0">
                <a:latin typeface="Arial"/>
                <a:ea typeface="Tahoma"/>
                <a:cs typeface="Arial"/>
              </a:rPr>
              <a:t>Alt </a:t>
            </a:r>
            <a:r>
              <a:rPr lang="en-US" dirty="0" err="1">
                <a:latin typeface="Arial"/>
                <a:ea typeface="Tahoma"/>
                <a:cs typeface="Arial"/>
              </a:rPr>
              <a:t>kritisk</a:t>
            </a:r>
            <a:r>
              <a:rPr lang="en-US" dirty="0">
                <a:latin typeface="Arial"/>
                <a:ea typeface="Tahoma"/>
                <a:cs typeface="Arial"/>
              </a:rPr>
              <a:t> input </a:t>
            </a:r>
            <a:r>
              <a:rPr lang="en-US" dirty="0" err="1">
                <a:latin typeface="Arial"/>
                <a:ea typeface="Tahoma"/>
                <a:cs typeface="Arial"/>
              </a:rPr>
              <a:t>skal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valideres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på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backenden</a:t>
            </a:r>
            <a:endParaRPr lang="en-US" dirty="0" err="1">
              <a:ea typeface="Tahoma"/>
            </a:endParaRPr>
          </a:p>
          <a:p>
            <a:pPr marL="359410" indent="-359410">
              <a:lnSpc>
                <a:spcPct val="113999"/>
              </a:lnSpc>
            </a:pPr>
            <a:r>
              <a:rPr lang="en-US" dirty="0" err="1">
                <a:latin typeface="Arial"/>
                <a:ea typeface="Tahoma"/>
                <a:cs typeface="Arial"/>
              </a:rPr>
              <a:t>F.eks</a:t>
            </a:r>
            <a:r>
              <a:rPr lang="en-US" dirty="0">
                <a:latin typeface="Arial"/>
                <a:ea typeface="Tahoma"/>
                <a:cs typeface="Arial"/>
              </a:rPr>
              <a:t>.</a:t>
            </a:r>
            <a:endParaRPr lang="en-US" dirty="0">
              <a:ea typeface="Tahoma"/>
            </a:endParaRPr>
          </a:p>
          <a:p>
            <a:pPr marL="719455" lvl="1" indent="-359410">
              <a:lnSpc>
                <a:spcPct val="113999"/>
              </a:lnSpc>
              <a:buFont typeface="Courier New" panose="020B0604020202020204" pitchFamily="34" charset="0"/>
              <a:buChar char="o"/>
            </a:pPr>
            <a:r>
              <a:rPr lang="en-US" err="1">
                <a:latin typeface="Arial"/>
                <a:ea typeface="Tahoma"/>
                <a:cs typeface="Arial"/>
              </a:rPr>
              <a:t>Hvis</a:t>
            </a:r>
            <a:r>
              <a:rPr lang="en-US" dirty="0">
                <a:latin typeface="Arial"/>
                <a:ea typeface="Tahoma"/>
                <a:cs typeface="Arial"/>
              </a:rPr>
              <a:t> input </a:t>
            </a:r>
            <a:r>
              <a:rPr lang="en-US" err="1">
                <a:latin typeface="Arial"/>
                <a:ea typeface="Tahoma"/>
                <a:cs typeface="Arial"/>
              </a:rPr>
              <a:t>skal</a:t>
            </a:r>
            <a:r>
              <a:rPr lang="en-US" dirty="0">
                <a:latin typeface="Arial"/>
                <a:ea typeface="Tahoma"/>
                <a:cs typeface="Arial"/>
              </a:rPr>
              <a:t> vises </a:t>
            </a:r>
            <a:r>
              <a:rPr lang="en-US" err="1">
                <a:latin typeface="Arial"/>
                <a:ea typeface="Tahoma"/>
                <a:cs typeface="Arial"/>
              </a:rPr>
              <a:t>som</a:t>
            </a:r>
            <a:r>
              <a:rPr lang="en-US" dirty="0">
                <a:latin typeface="Arial"/>
                <a:ea typeface="Tahoma"/>
                <a:cs typeface="Arial"/>
              </a:rPr>
              <a:t> HTML </a:t>
            </a:r>
            <a:endParaRPr lang="en-US" dirty="0">
              <a:ea typeface="Tahoma"/>
            </a:endParaRPr>
          </a:p>
          <a:p>
            <a:pPr marL="720090" lvl="2" indent="0">
              <a:lnSpc>
                <a:spcPct val="113999"/>
              </a:lnSpc>
              <a:buNone/>
            </a:pPr>
            <a:r>
              <a:rPr lang="en-US">
                <a:latin typeface="Arial"/>
                <a:ea typeface="Tahoma"/>
                <a:cs typeface="Arial"/>
              </a:rPr>
              <a:t>-&gt; </a:t>
            </a:r>
            <a:r>
              <a:rPr lang="en-US" err="1">
                <a:latin typeface="Arial"/>
                <a:ea typeface="Tahoma"/>
                <a:cs typeface="Arial"/>
              </a:rPr>
              <a:t>valider</a:t>
            </a:r>
            <a:r>
              <a:rPr lang="en-US" dirty="0">
                <a:latin typeface="Arial"/>
                <a:ea typeface="Tahoma"/>
                <a:cs typeface="Arial"/>
              </a:rPr>
              <a:t> at det </a:t>
            </a:r>
            <a:r>
              <a:rPr lang="en-US" err="1">
                <a:latin typeface="Arial"/>
                <a:ea typeface="Tahoma"/>
                <a:cs typeface="Arial"/>
              </a:rPr>
              <a:t>ikke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indholder</a:t>
            </a:r>
            <a:r>
              <a:rPr lang="en-US">
                <a:latin typeface="Arial"/>
                <a:ea typeface="Tahoma"/>
                <a:cs typeface="Arial"/>
              </a:rPr>
              <a:t> JS</a:t>
            </a:r>
            <a:endParaRPr lang="en-US">
              <a:ea typeface="Tahoma"/>
            </a:endParaRPr>
          </a:p>
          <a:p>
            <a:pPr marL="719455" lvl="1" indent="-359410">
              <a:lnSpc>
                <a:spcPct val="113999"/>
              </a:lnSpc>
              <a:buFont typeface="Courier New" panose="020B0604020202020204" pitchFamily="34" charset="0"/>
              <a:buChar char="o"/>
            </a:pPr>
            <a:r>
              <a:rPr lang="en-US" dirty="0" err="1">
                <a:latin typeface="Arial"/>
                <a:ea typeface="Tahoma"/>
                <a:cs typeface="Arial"/>
              </a:rPr>
              <a:t>Hvis</a:t>
            </a:r>
            <a:r>
              <a:rPr lang="en-US" dirty="0">
                <a:latin typeface="Arial"/>
                <a:ea typeface="Tahoma"/>
                <a:cs typeface="Arial"/>
              </a:rPr>
              <a:t> der er </a:t>
            </a:r>
            <a:r>
              <a:rPr lang="en-US" dirty="0" err="1">
                <a:latin typeface="Arial"/>
                <a:ea typeface="Tahoma"/>
                <a:cs typeface="Arial"/>
              </a:rPr>
              <a:t>krav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til</a:t>
            </a:r>
            <a:r>
              <a:rPr lang="en-US" dirty="0">
                <a:latin typeface="Arial"/>
                <a:ea typeface="Tahoma"/>
                <a:cs typeface="Arial"/>
              </a:rPr>
              <a:t> input, </a:t>
            </a:r>
            <a:r>
              <a:rPr lang="en-US" dirty="0" err="1">
                <a:latin typeface="Arial"/>
                <a:ea typeface="Tahoma"/>
                <a:cs typeface="Arial"/>
              </a:rPr>
              <a:t>f.eks</a:t>
            </a:r>
            <a:r>
              <a:rPr lang="en-US" dirty="0">
                <a:latin typeface="Arial"/>
                <a:ea typeface="Tahoma"/>
                <a:cs typeface="Arial"/>
              </a:rPr>
              <a:t>. format </a:t>
            </a:r>
            <a:r>
              <a:rPr lang="en-US" dirty="0" err="1">
                <a:latin typeface="Arial"/>
                <a:ea typeface="Tahoma"/>
                <a:cs typeface="Arial"/>
              </a:rPr>
              <a:t>eller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indhold</a:t>
            </a:r>
            <a:endParaRPr lang="en-US" dirty="0" err="1">
              <a:ea typeface="Tahoma"/>
            </a:endParaRPr>
          </a:p>
          <a:p>
            <a:pPr marL="720090" lvl="2" indent="0">
              <a:lnSpc>
                <a:spcPct val="113999"/>
              </a:lnSpc>
              <a:buNone/>
            </a:pPr>
            <a:r>
              <a:rPr lang="en-US">
                <a:latin typeface="Arial"/>
                <a:ea typeface="Tahoma"/>
                <a:cs typeface="Arial"/>
              </a:rPr>
              <a:t>-&gt; </a:t>
            </a:r>
            <a:r>
              <a:rPr lang="en-US" err="1">
                <a:latin typeface="Arial"/>
                <a:ea typeface="Tahoma"/>
                <a:cs typeface="Arial"/>
              </a:rPr>
              <a:t>valider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på</a:t>
            </a:r>
            <a:r>
              <a:rPr lang="en-US" dirty="0">
                <a:latin typeface="Arial"/>
                <a:ea typeface="Tahoma"/>
                <a:cs typeface="Arial"/>
              </a:rPr>
              <a:t> backend</a:t>
            </a:r>
            <a:endParaRPr lang="en-US">
              <a:ea typeface="Tahoma"/>
            </a:endParaRPr>
          </a:p>
          <a:p>
            <a:pPr marL="359410" indent="-359410">
              <a:lnSpc>
                <a:spcPct val="113999"/>
              </a:lnSpc>
            </a:pPr>
            <a:endParaRPr lang="en-US" dirty="0">
              <a:ea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062628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9C8F-6685-E301-6FD3-283D4154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5C26-B06A-2CC3-4EA1-49E5A24A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/>
              <a:t>Øvelse</a:t>
            </a:r>
            <a:br>
              <a:rPr lang="da-DK" dirty="0"/>
            </a:br>
            <a:r>
              <a:rPr lang="da-DK" dirty="0" err="1"/>
              <a:t>Improper</a:t>
            </a:r>
            <a:r>
              <a:rPr lang="da-DK" dirty="0"/>
              <a:t> Input Validation</a:t>
            </a:r>
          </a:p>
        </p:txBody>
      </p:sp>
    </p:spTree>
    <p:extLst>
      <p:ext uri="{BB962C8B-B14F-4D97-AF65-F5344CB8AC3E}">
        <p14:creationId xmlns:p14="http://schemas.microsoft.com/office/powerpoint/2010/main" val="4037047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0863-87E4-EAAB-633E-CC22ABA6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Injection</a:t>
            </a:r>
            <a:r>
              <a:rPr lang="da-DK" dirty="0"/>
              <a:t> og XSS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083508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BE1F-821F-CBF0-E524-93EB75401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209D87-E3F5-B346-E4E2-8E455B6C5688}"/>
              </a:ext>
            </a:extLst>
          </p:cNvPr>
          <p:cNvSpPr/>
          <p:nvPr/>
        </p:nvSpPr>
        <p:spPr>
          <a:xfrm>
            <a:off x="1363322" y="1784925"/>
            <a:ext cx="3906252" cy="11750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CB9E75-4817-CED9-503C-B12B9C51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SQL injection (</a:t>
            </a:r>
            <a:r>
              <a:rPr lang="en-US" err="1">
                <a:latin typeface="Arial"/>
                <a:ea typeface="Verdana"/>
                <a:cs typeface="Arial"/>
              </a:rPr>
              <a:t>eller</a:t>
            </a:r>
            <a:r>
              <a:rPr lang="en-US">
                <a:latin typeface="Arial"/>
                <a:ea typeface="Verdana"/>
                <a:cs typeface="Arial"/>
              </a:rPr>
              <a:t> SQLi)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7F5DA-F3CF-62D3-3263-AF5666FA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8E33B-48F4-6490-D196-A8E388825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A6E27-93E1-F476-0191-88B9AA3F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22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FA799-CF7E-B55A-096E-EF01FAB684C0}"/>
              </a:ext>
            </a:extLst>
          </p:cNvPr>
          <p:cNvSpPr txBox="1"/>
          <p:nvPr/>
        </p:nvSpPr>
        <p:spPr>
          <a:xfrm>
            <a:off x="1498283" y="1934773"/>
            <a:ext cx="364556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cs typeface="Arial"/>
              </a:rPr>
              <a:t>Brugernavn</a:t>
            </a:r>
            <a:r>
              <a:rPr lang="en-US">
                <a:cs typeface="Arial"/>
              </a:rPr>
              <a:t>: </a:t>
            </a:r>
            <a:r>
              <a:rPr lang="en-US" err="1">
                <a:cs typeface="Arial"/>
              </a:rPr>
              <a:t>benjamin</a:t>
            </a:r>
            <a:r>
              <a:rPr lang="en-US">
                <a:cs typeface="Arial"/>
              </a:rPr>
              <a:t>  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7E4210-6DDC-ADEC-BB0D-CCB40D787DC9}"/>
              </a:ext>
            </a:extLst>
          </p:cNvPr>
          <p:cNvSpPr txBox="1"/>
          <p:nvPr/>
        </p:nvSpPr>
        <p:spPr>
          <a:xfrm>
            <a:off x="1498282" y="2424056"/>
            <a:ext cx="364556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     </a:t>
            </a:r>
            <a:r>
              <a:rPr lang="en-US" err="1">
                <a:cs typeface="Arial"/>
              </a:rPr>
              <a:t>Kodeord</a:t>
            </a:r>
            <a:r>
              <a:rPr lang="en-US">
                <a:cs typeface="Arial"/>
              </a:rPr>
              <a:t>: hunter2</a:t>
            </a:r>
            <a:endParaRPr lang="en-US"/>
          </a:p>
        </p:txBody>
      </p:sp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F5B424A3-0C0C-8AFD-2247-B4C3C373BE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9002" y="4180715"/>
            <a:ext cx="1267416" cy="1267416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6D3DB12F-8AA3-A500-BA58-7930278816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6457" y="4180186"/>
            <a:ext cx="1267416" cy="12674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FC62F10-73AF-06B4-7551-2562052FE989}"/>
              </a:ext>
            </a:extLst>
          </p:cNvPr>
          <p:cNvSpPr txBox="1"/>
          <p:nvPr/>
        </p:nvSpPr>
        <p:spPr>
          <a:xfrm>
            <a:off x="2767058" y="4486940"/>
            <a:ext cx="73817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  <a:ea typeface="+mn-lt"/>
                <a:cs typeface="+mn-lt"/>
              </a:rPr>
              <a:t>SELECT * FROM users </a:t>
            </a:r>
          </a:p>
          <a:p>
            <a:r>
              <a:rPr lang="en-US">
                <a:latin typeface="Consolas"/>
                <a:ea typeface="+mn-lt"/>
                <a:cs typeface="+mn-lt"/>
              </a:rPr>
              <a:t>WHERE username = '</a:t>
            </a:r>
            <a:r>
              <a:rPr lang="en-US" err="1">
                <a:latin typeface="Consolas"/>
                <a:ea typeface="+mn-lt"/>
                <a:cs typeface="+mn-lt"/>
              </a:rPr>
              <a:t>benjamin</a:t>
            </a:r>
            <a:r>
              <a:rPr lang="en-US">
                <a:latin typeface="Consolas"/>
                <a:ea typeface="+mn-lt"/>
                <a:cs typeface="+mn-lt"/>
              </a:rPr>
              <a:t>' AND password = 'hunter2'</a:t>
            </a:r>
            <a:endParaRPr lang="en-US">
              <a:latin typeface="Consolas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C6E9E0A-B123-0D62-00CF-AAEA5BD60F99}"/>
              </a:ext>
            </a:extLst>
          </p:cNvPr>
          <p:cNvSpPr/>
          <p:nvPr/>
        </p:nvSpPr>
        <p:spPr>
          <a:xfrm>
            <a:off x="2837530" y="5133793"/>
            <a:ext cx="6885911" cy="18785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79ABF890-D123-4C32-3332-AE45E153B2D5}"/>
              </a:ext>
            </a:extLst>
          </p:cNvPr>
          <p:cNvSpPr/>
          <p:nvPr/>
        </p:nvSpPr>
        <p:spPr>
          <a:xfrm>
            <a:off x="2076271" y="3148845"/>
            <a:ext cx="235980" cy="91022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43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A07244-6C40-087C-595C-BFAB7F794A20}"/>
              </a:ext>
            </a:extLst>
          </p:cNvPr>
          <p:cNvSpPr/>
          <p:nvPr/>
        </p:nvSpPr>
        <p:spPr>
          <a:xfrm>
            <a:off x="1363322" y="1784925"/>
            <a:ext cx="3906252" cy="11750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39451-08DA-056E-5153-2D9D67AC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SQL injection (</a:t>
            </a:r>
            <a:r>
              <a:rPr lang="en-US" err="1">
                <a:latin typeface="Arial"/>
                <a:ea typeface="Verdana"/>
                <a:cs typeface="Arial"/>
              </a:rPr>
              <a:t>eller</a:t>
            </a:r>
            <a:r>
              <a:rPr lang="en-US">
                <a:latin typeface="Arial"/>
                <a:ea typeface="Verdana"/>
                <a:cs typeface="Arial"/>
              </a:rPr>
              <a:t> SQLi)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11401-E529-6E59-D5D1-9F0EACD6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C892A-2FDA-5F26-10EA-8516B8DE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8229B-201B-96F7-C713-AC671576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23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234E7-3C99-047C-2474-D89F85C370E2}"/>
              </a:ext>
            </a:extLst>
          </p:cNvPr>
          <p:cNvSpPr txBox="1"/>
          <p:nvPr/>
        </p:nvSpPr>
        <p:spPr>
          <a:xfrm>
            <a:off x="1498283" y="1934773"/>
            <a:ext cx="364556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cs typeface="Arial"/>
              </a:rPr>
              <a:t>Brugernavn</a:t>
            </a:r>
            <a:r>
              <a:rPr lang="en-US">
                <a:cs typeface="Arial"/>
              </a:rPr>
              <a:t>: a</a:t>
            </a:r>
            <a:r>
              <a:rPr lang="en-US">
                <a:solidFill>
                  <a:srgbClr val="FF0000"/>
                </a:solidFill>
                <a:latin typeface="Consolas"/>
                <a:cs typeface="Arial"/>
              </a:rPr>
              <a:t>' OR 1 = 1 --</a:t>
            </a:r>
            <a:r>
              <a:rPr lang="en-US">
                <a:cs typeface="Arial"/>
              </a:rPr>
              <a:t>  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E817C-C63D-82B1-A31C-CD1C5ACE709A}"/>
              </a:ext>
            </a:extLst>
          </p:cNvPr>
          <p:cNvSpPr txBox="1"/>
          <p:nvPr/>
        </p:nvSpPr>
        <p:spPr>
          <a:xfrm>
            <a:off x="1494271" y="2432077"/>
            <a:ext cx="364556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     </a:t>
            </a:r>
            <a:r>
              <a:rPr lang="en-US" err="1">
                <a:cs typeface="Arial"/>
              </a:rPr>
              <a:t>Kodeord</a:t>
            </a:r>
            <a:r>
              <a:rPr lang="en-US">
                <a:cs typeface="Arial"/>
              </a:rPr>
              <a:t>: </a:t>
            </a:r>
            <a:endParaRPr lang="en-US"/>
          </a:p>
        </p:txBody>
      </p:sp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5D38E8B1-EF63-B175-5AD3-479214AB3E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9002" y="4180715"/>
            <a:ext cx="1267416" cy="1267416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2A09053D-8542-5610-88A8-FCCB18D6F5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6457" y="4180186"/>
            <a:ext cx="1267416" cy="12674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7CB8B6-4D2A-6DE5-22B8-772293E348DB}"/>
              </a:ext>
            </a:extLst>
          </p:cNvPr>
          <p:cNvSpPr txBox="1"/>
          <p:nvPr/>
        </p:nvSpPr>
        <p:spPr>
          <a:xfrm>
            <a:off x="2767058" y="4486940"/>
            <a:ext cx="73817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  <a:ea typeface="+mn-lt"/>
                <a:cs typeface="+mn-lt"/>
              </a:rPr>
              <a:t>SELECT * FROM users </a:t>
            </a:r>
          </a:p>
          <a:p>
            <a:r>
              <a:rPr lang="en-US">
                <a:latin typeface="Consolas"/>
                <a:ea typeface="+mn-lt"/>
                <a:cs typeface="+mn-lt"/>
              </a:rPr>
              <a:t>WHERE username = 'a</a:t>
            </a:r>
            <a:r>
              <a:rPr lang="en-US">
                <a:solidFill>
                  <a:srgbClr val="FF0000"/>
                </a:solidFill>
                <a:latin typeface="Consolas"/>
                <a:ea typeface="+mn-lt"/>
                <a:cs typeface="+mn-lt"/>
              </a:rPr>
              <a:t>' OR 1 = 1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>
                <a:solidFill>
                  <a:schemeClr val="bg1">
                    <a:lumMod val="65000"/>
                  </a:schemeClr>
                </a:solidFill>
                <a:latin typeface="Consolas"/>
                <a:ea typeface="+mn-lt"/>
                <a:cs typeface="+mn-lt"/>
              </a:rPr>
              <a:t>--' AND password = ''</a:t>
            </a:r>
            <a:endParaRPr lang="en-US">
              <a:solidFill>
                <a:schemeClr val="bg1">
                  <a:lumMod val="65000"/>
                </a:schemeClr>
              </a:solidFill>
              <a:latin typeface="Consolas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D46A57E-7509-3946-B632-9590D4E0255C}"/>
              </a:ext>
            </a:extLst>
          </p:cNvPr>
          <p:cNvSpPr/>
          <p:nvPr/>
        </p:nvSpPr>
        <p:spPr>
          <a:xfrm>
            <a:off x="2837530" y="5133793"/>
            <a:ext cx="6885911" cy="18785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2FD76C1-3C00-E554-C710-F37B84D7E8BD}"/>
              </a:ext>
            </a:extLst>
          </p:cNvPr>
          <p:cNvSpPr/>
          <p:nvPr/>
        </p:nvSpPr>
        <p:spPr>
          <a:xfrm>
            <a:off x="2076271" y="3148845"/>
            <a:ext cx="235980" cy="91022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46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A633-0A30-26DB-AD78-D2C87893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00FC-3364-6A28-633A-115A62251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Cross-site scripting (</a:t>
            </a:r>
            <a:r>
              <a:rPr lang="en-US" err="1">
                <a:latin typeface="Arial"/>
                <a:ea typeface="Verdana"/>
                <a:cs typeface="Arial"/>
              </a:rPr>
              <a:t>eller</a:t>
            </a:r>
            <a:r>
              <a:rPr lang="en-US">
                <a:latin typeface="Arial"/>
                <a:ea typeface="Verdana"/>
                <a:cs typeface="Arial"/>
              </a:rPr>
              <a:t> XSS)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E27C7-FB2E-857F-CA3E-0821252C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C42D5-2475-25E9-AF89-08818C6C7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C2C98-10B8-D72E-4360-67E1A13A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24</a:t>
            </a:fld>
            <a:endParaRPr lang="da-DK"/>
          </a:p>
        </p:txBody>
      </p:sp>
      <p:pic>
        <p:nvPicPr>
          <p:cNvPr id="7" name="Graphic 6" descr="Browser window with solid fill">
            <a:extLst>
              <a:ext uri="{FF2B5EF4-FFF2-40B4-BE49-F238E27FC236}">
                <a16:creationId xmlns:a16="http://schemas.microsoft.com/office/drawing/2014/main" id="{2E2809B0-341C-77B1-A30D-EE3BDFCB6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422" y="3781925"/>
            <a:ext cx="1351547" cy="1351547"/>
          </a:xfrm>
          <a:prstGeom prst="rect">
            <a:avLst/>
          </a:prstGeom>
        </p:spPr>
      </p:pic>
      <p:pic>
        <p:nvPicPr>
          <p:cNvPr id="9" name="Graphic 8" descr="Server with solid fill">
            <a:extLst>
              <a:ext uri="{FF2B5EF4-FFF2-40B4-BE49-F238E27FC236}">
                <a16:creationId xmlns:a16="http://schemas.microsoft.com/office/drawing/2014/main" id="{D1D5B451-C43C-B417-9FBF-94863DD0C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8063" y="2117557"/>
            <a:ext cx="1371600" cy="1371600"/>
          </a:xfrm>
          <a:prstGeom prst="rect">
            <a:avLst/>
          </a:prstGeom>
        </p:spPr>
      </p:pic>
      <p:pic>
        <p:nvPicPr>
          <p:cNvPr id="11" name="Graphic 10" descr="Browser window with solid fill">
            <a:extLst>
              <a:ext uri="{FF2B5EF4-FFF2-40B4-BE49-F238E27FC236}">
                <a16:creationId xmlns:a16="http://schemas.microsoft.com/office/drawing/2014/main" id="{AD775EEF-43AC-432E-048D-0EC20E7F0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14284" y="3781923"/>
            <a:ext cx="1351547" cy="1351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6FFF02-D9A7-FE80-1B8B-C3C632728261}"/>
              </a:ext>
            </a:extLst>
          </p:cNvPr>
          <p:cNvSpPr txBox="1"/>
          <p:nvPr/>
        </p:nvSpPr>
        <p:spPr>
          <a:xfrm>
            <a:off x="1490511" y="261975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onsolas"/>
                <a:ea typeface="Calibri"/>
                <a:cs typeface="Calibri"/>
              </a:rPr>
              <a:t>foo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5BC0B-86DA-8984-D612-E6844E5B8E37}"/>
              </a:ext>
            </a:extLst>
          </p:cNvPr>
          <p:cNvSpPr txBox="1"/>
          <p:nvPr/>
        </p:nvSpPr>
        <p:spPr>
          <a:xfrm>
            <a:off x="6728257" y="2619756"/>
            <a:ext cx="45639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  <a:ea typeface="Calibri"/>
                <a:cs typeface="Calibri"/>
              </a:rPr>
              <a:t>&lt;html&gt;…foo…&lt;/html&gt;</a:t>
            </a:r>
            <a:endParaRPr lang="en-US">
              <a:cs typeface="Arial" panose="020B0604020202020204"/>
            </a:endParaRPr>
          </a:p>
        </p:txBody>
      </p:sp>
      <p:sp>
        <p:nvSpPr>
          <p:cNvPr id="3" name="Arrow: Bent 2">
            <a:extLst>
              <a:ext uri="{FF2B5EF4-FFF2-40B4-BE49-F238E27FC236}">
                <a16:creationId xmlns:a16="http://schemas.microsoft.com/office/drawing/2014/main" id="{826817E4-2FA5-9D30-5AC4-74875CB92454}"/>
              </a:ext>
            </a:extLst>
          </p:cNvPr>
          <p:cNvSpPr/>
          <p:nvPr/>
        </p:nvSpPr>
        <p:spPr>
          <a:xfrm>
            <a:off x="1490071" y="2990649"/>
            <a:ext cx="3869837" cy="868680"/>
          </a:xfrm>
          <a:prstGeom prst="ben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23A50ACB-877F-46AA-E3EC-CB6994262F55}"/>
              </a:ext>
            </a:extLst>
          </p:cNvPr>
          <p:cNvSpPr/>
          <p:nvPr/>
        </p:nvSpPr>
        <p:spPr>
          <a:xfrm rot="5400000">
            <a:off x="8376646" y="1435067"/>
            <a:ext cx="877984" cy="4169343"/>
          </a:xfrm>
          <a:prstGeom prst="ben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062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D4B2A-CC8D-9AA5-8223-2B7AD68E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65D1-AE1A-75C1-B877-34B57DE54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Cross-site scripting (</a:t>
            </a:r>
            <a:r>
              <a:rPr lang="en-US" err="1">
                <a:latin typeface="Arial"/>
                <a:ea typeface="Verdana"/>
                <a:cs typeface="Arial"/>
              </a:rPr>
              <a:t>eller</a:t>
            </a:r>
            <a:r>
              <a:rPr lang="en-US">
                <a:latin typeface="Arial"/>
                <a:ea typeface="Verdana"/>
                <a:cs typeface="Arial"/>
              </a:rPr>
              <a:t> XSS)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5951C-5918-32ED-C91F-070C2D622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DE2AD-81ED-F176-909B-A2A177A8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429AD-737C-FFC3-0E11-7BCFE42D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25</a:t>
            </a:fld>
            <a:endParaRPr lang="da-DK"/>
          </a:p>
        </p:txBody>
      </p:sp>
      <p:pic>
        <p:nvPicPr>
          <p:cNvPr id="7" name="Graphic 6" descr="Browser window with solid fill">
            <a:extLst>
              <a:ext uri="{FF2B5EF4-FFF2-40B4-BE49-F238E27FC236}">
                <a16:creationId xmlns:a16="http://schemas.microsoft.com/office/drawing/2014/main" id="{2EE1FBA1-C4A7-5DC2-6F78-05D9D051C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422" y="3781925"/>
            <a:ext cx="1351547" cy="1351547"/>
          </a:xfrm>
          <a:prstGeom prst="rect">
            <a:avLst/>
          </a:prstGeom>
        </p:spPr>
      </p:pic>
      <p:pic>
        <p:nvPicPr>
          <p:cNvPr id="9" name="Graphic 8" descr="Server with solid fill">
            <a:extLst>
              <a:ext uri="{FF2B5EF4-FFF2-40B4-BE49-F238E27FC236}">
                <a16:creationId xmlns:a16="http://schemas.microsoft.com/office/drawing/2014/main" id="{42FEFE55-C14F-DE2A-FDF5-30BE62954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8063" y="2117557"/>
            <a:ext cx="1371600" cy="1371600"/>
          </a:xfrm>
          <a:prstGeom prst="rect">
            <a:avLst/>
          </a:prstGeom>
        </p:spPr>
      </p:pic>
      <p:pic>
        <p:nvPicPr>
          <p:cNvPr id="11" name="Graphic 10" descr="Browser window with solid fill">
            <a:extLst>
              <a:ext uri="{FF2B5EF4-FFF2-40B4-BE49-F238E27FC236}">
                <a16:creationId xmlns:a16="http://schemas.microsoft.com/office/drawing/2014/main" id="{383E5255-CF00-9BED-DCA9-4ED01DCA14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14284" y="3781923"/>
            <a:ext cx="1351547" cy="1351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F4923F-EE51-49E7-9053-8EB33C0EA0B7}"/>
              </a:ext>
            </a:extLst>
          </p:cNvPr>
          <p:cNvSpPr txBox="1"/>
          <p:nvPr/>
        </p:nvSpPr>
        <p:spPr>
          <a:xfrm>
            <a:off x="1490511" y="261975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&lt;script&gt;…&lt;/script&gt;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3716AD-147E-0677-7453-1EEF6E80952F}"/>
              </a:ext>
            </a:extLst>
          </p:cNvPr>
          <p:cNvSpPr txBox="1"/>
          <p:nvPr/>
        </p:nvSpPr>
        <p:spPr>
          <a:xfrm>
            <a:off x="6728257" y="2619756"/>
            <a:ext cx="45639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  <a:ea typeface="Calibri"/>
                <a:cs typeface="Calibri"/>
              </a:rPr>
              <a:t>&lt;html&gt;…</a:t>
            </a:r>
            <a:r>
              <a:rPr lang="en-US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&lt;script&gt;…&lt;/script&gt;</a:t>
            </a:r>
            <a:r>
              <a:rPr lang="en-US">
                <a:latin typeface="Consolas"/>
                <a:ea typeface="Calibri"/>
                <a:cs typeface="Calibri"/>
              </a:rPr>
              <a:t>…&lt;/html&gt;</a:t>
            </a:r>
            <a:endParaRPr lang="en-US">
              <a:cs typeface="Arial" panose="020B0604020202020204"/>
            </a:endParaRPr>
          </a:p>
        </p:txBody>
      </p:sp>
      <p:sp>
        <p:nvSpPr>
          <p:cNvPr id="3" name="Arrow: Bent 2">
            <a:extLst>
              <a:ext uri="{FF2B5EF4-FFF2-40B4-BE49-F238E27FC236}">
                <a16:creationId xmlns:a16="http://schemas.microsoft.com/office/drawing/2014/main" id="{C693F891-08C0-82DA-E844-705BEB32D76F}"/>
              </a:ext>
            </a:extLst>
          </p:cNvPr>
          <p:cNvSpPr/>
          <p:nvPr/>
        </p:nvSpPr>
        <p:spPr>
          <a:xfrm>
            <a:off x="1490071" y="2990649"/>
            <a:ext cx="3869837" cy="868680"/>
          </a:xfrm>
          <a:prstGeom prst="ben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C50EE6DD-94A0-1589-6B84-156E42FB268C}"/>
              </a:ext>
            </a:extLst>
          </p:cNvPr>
          <p:cNvSpPr/>
          <p:nvPr/>
        </p:nvSpPr>
        <p:spPr>
          <a:xfrm rot="5400000">
            <a:off x="8376646" y="1435067"/>
            <a:ext cx="877984" cy="4169343"/>
          </a:xfrm>
          <a:prstGeom prst="ben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521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7E1B-354E-12FA-0874-53CFB4F5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/>
              <a:t>XSS (cross-site </a:t>
            </a:r>
            <a:r>
              <a:rPr lang="da-DK" dirty="0" err="1"/>
              <a:t>scripting</a:t>
            </a:r>
            <a:r>
              <a:rPr lang="da-DK" dirty="0"/>
              <a:t>)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8C9CC-85B8-F2EA-3684-62739C6BE9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>
                <a:latin typeface="Arial"/>
                <a:ea typeface="Tahoma"/>
                <a:cs typeface="Arial"/>
              </a:rPr>
              <a:t>DOM</a:t>
            </a:r>
            <a:endParaRPr lang="en-US"/>
          </a:p>
          <a:p>
            <a:pPr marL="719455" lvl="1" indent="-359410">
              <a:lnSpc>
                <a:spcPct val="113999"/>
              </a:lnSpc>
              <a:buFont typeface="Courier New" panose="020B0604020202020204" pitchFamily="34" charset="0"/>
              <a:buChar char="o"/>
            </a:pPr>
            <a:r>
              <a:rPr lang="da-DK">
                <a:latin typeface="Arial"/>
                <a:cs typeface="Arial"/>
              </a:rPr>
              <a:t>Scripts returneret af JS</a:t>
            </a:r>
            <a:endParaRPr lang="da-DK" dirty="0"/>
          </a:p>
          <a:p>
            <a:pPr marL="719455" lvl="1" indent="-359410">
              <a:lnSpc>
                <a:spcPct val="113999"/>
              </a:lnSpc>
              <a:buClr>
                <a:srgbClr val="343434"/>
              </a:buClr>
              <a:buFont typeface="Courier New" panose="020B0604020202020204" pitchFamily="34" charset="0"/>
              <a:buChar char="o"/>
            </a:pPr>
            <a:r>
              <a:rPr lang="da-DK">
                <a:latin typeface="Arial"/>
                <a:ea typeface="Tahoma"/>
                <a:cs typeface="Arial"/>
              </a:rPr>
              <a:t>Laver ikke server-kald og kan derfor f.eks. ikke fanges med IDS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359410" indent="-359410"/>
            <a:r>
              <a:rPr lang="da-DK" err="1">
                <a:latin typeface="Arial"/>
                <a:ea typeface="Tahoma"/>
                <a:cs typeface="Arial"/>
              </a:rPr>
              <a:t>Reflected</a:t>
            </a:r>
            <a:endParaRPr lang="da-DK" dirty="0"/>
          </a:p>
          <a:p>
            <a:pPr marL="719455" lvl="1" indent="-359410">
              <a:lnSpc>
                <a:spcPct val="113999"/>
              </a:lnSpc>
              <a:buFont typeface="Courier New" panose="020B0604020202020204" pitchFamily="34" charset="0"/>
              <a:buChar char="o"/>
            </a:pPr>
            <a:r>
              <a:rPr lang="da-DK">
                <a:latin typeface="Arial"/>
                <a:ea typeface="Tahoma"/>
                <a:cs typeface="Arial"/>
              </a:rPr>
              <a:t>Scripts returneret af webserveren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359410" indent="-359410"/>
            <a:r>
              <a:rPr lang="da-DK" err="1">
                <a:latin typeface="Arial"/>
                <a:ea typeface="Tahoma"/>
                <a:cs typeface="Arial"/>
              </a:rPr>
              <a:t>Persistent</a:t>
            </a:r>
            <a:endParaRPr lang="en-DK" dirty="0"/>
          </a:p>
          <a:p>
            <a:pPr marL="719455" lvl="1" indent="-359410">
              <a:lnSpc>
                <a:spcPct val="113999"/>
              </a:lnSpc>
              <a:buFont typeface="Courier New" panose="020B0604020202020204" pitchFamily="34" charset="0"/>
              <a:buChar char="o"/>
            </a:pPr>
            <a:r>
              <a:rPr lang="da-DK">
                <a:latin typeface="Arial"/>
                <a:ea typeface="Tahoma"/>
                <a:cs typeface="Arial"/>
              </a:rPr>
              <a:t>Scripts der bliver lagret på serveren</a:t>
            </a:r>
            <a:endParaRPr lang="da-DK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8687-A6C9-4DFB-644E-7D37BBC767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9C7FF-85A2-4D7F-A74A-AA53AFB506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1A3A3-5E7F-15C8-07D1-BAA6ECEB61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0160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0863-87E4-EAAB-633E-CC22ABA6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Øvelse</a:t>
            </a:r>
            <a:br>
              <a:rPr lang="da-DK" dirty="0"/>
            </a:br>
            <a:r>
              <a:rPr lang="da-DK">
                <a:latin typeface="Arial"/>
                <a:ea typeface="Verdana"/>
                <a:cs typeface="Arial"/>
              </a:rPr>
              <a:t>Injection,</a:t>
            </a:r>
            <a:r>
              <a:rPr lang="da-DK" dirty="0">
                <a:latin typeface="Arial"/>
                <a:ea typeface="Verdana"/>
                <a:cs typeface="Arial"/>
              </a:rPr>
              <a:t> XSS</a:t>
            </a:r>
            <a:endParaRPr lang="en-DK" dirty="0">
              <a:latin typeface="Arial"/>
              <a:ea typeface="Verdan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3022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60BE-3CF9-FE4E-F98E-D870D6C6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 err="1"/>
              <a:t>Webapplikationstesting</a:t>
            </a:r>
            <a:br>
              <a:rPr lang="da-DK" dirty="0"/>
            </a:br>
            <a:r>
              <a:rPr lang="da-DK" dirty="0"/>
              <a:t>m. </a:t>
            </a:r>
            <a:r>
              <a:rPr lang="da-DK" dirty="0" err="1"/>
              <a:t>Burp</a:t>
            </a:r>
            <a:r>
              <a:rPr lang="da-DK" dirty="0"/>
              <a:t> Suite</a:t>
            </a:r>
          </a:p>
        </p:txBody>
      </p:sp>
    </p:spTree>
    <p:extLst>
      <p:ext uri="{BB962C8B-B14F-4D97-AF65-F5344CB8AC3E}">
        <p14:creationId xmlns:p14="http://schemas.microsoft.com/office/powerpoint/2010/main" val="4047700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6A44-ED8F-13EF-4EE8-219FDF25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Proxy-værktøjer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F1FDD-FCCD-40DF-B211-9DD4A8A8B0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 dirty="0">
                <a:latin typeface="Arial"/>
                <a:ea typeface="Tahoma"/>
                <a:cs typeface="Arial"/>
              </a:rPr>
              <a:t>Til de næste øvelser skal man konstruere eller modificere </a:t>
            </a:r>
            <a:r>
              <a:rPr lang="da-DK" err="1">
                <a:latin typeface="Arial"/>
                <a:ea typeface="Tahoma"/>
                <a:cs typeface="Arial"/>
              </a:rPr>
              <a:t>requests</a:t>
            </a:r>
            <a:r>
              <a:rPr lang="da-DK" dirty="0">
                <a:latin typeface="Arial"/>
                <a:ea typeface="Tahoma"/>
                <a:cs typeface="Arial"/>
              </a:rPr>
              <a:t> (og </a:t>
            </a:r>
            <a:r>
              <a:rPr lang="da-DK" err="1">
                <a:latin typeface="Arial"/>
                <a:ea typeface="Tahoma"/>
                <a:cs typeface="Arial"/>
              </a:rPr>
              <a:t>evt</a:t>
            </a:r>
            <a:r>
              <a:rPr lang="da-DK" dirty="0">
                <a:latin typeface="Arial"/>
                <a:ea typeface="Tahoma"/>
                <a:cs typeface="Arial"/>
              </a:rPr>
              <a:t> </a:t>
            </a:r>
            <a:r>
              <a:rPr lang="da-DK" err="1">
                <a:latin typeface="Arial"/>
                <a:ea typeface="Tahoma"/>
                <a:cs typeface="Arial"/>
              </a:rPr>
              <a:t>responses</a:t>
            </a:r>
            <a:r>
              <a:rPr lang="da-DK" dirty="0">
                <a:latin typeface="Arial"/>
                <a:ea typeface="Tahoma"/>
                <a:cs typeface="Arial"/>
              </a:rPr>
              <a:t>)</a:t>
            </a:r>
            <a:endParaRPr lang="en-US">
              <a:latin typeface="Arial"/>
              <a:ea typeface="Tahoma"/>
              <a:cs typeface="Arial"/>
            </a:endParaRPr>
          </a:p>
          <a:p>
            <a:r>
              <a:rPr lang="da-DK" dirty="0"/>
              <a:t>Dette kan gøres på mange måder</a:t>
            </a:r>
          </a:p>
          <a:p>
            <a:pPr marL="719455" lvl="1" indent="-359410"/>
            <a:r>
              <a:rPr lang="da-DK" dirty="0">
                <a:latin typeface="Arial"/>
                <a:cs typeface="Arial"/>
              </a:rPr>
              <a:t>cURL, Firefox, </a:t>
            </a:r>
            <a:r>
              <a:rPr lang="da-DK" err="1">
                <a:latin typeface="Arial"/>
                <a:cs typeface="Arial"/>
              </a:rPr>
              <a:t>Postman</a:t>
            </a:r>
            <a:endParaRPr lang="da-DK">
              <a:latin typeface="Arial"/>
              <a:cs typeface="Arial"/>
            </a:endParaRPr>
          </a:p>
          <a:p>
            <a:r>
              <a:rPr lang="da-DK" dirty="0"/>
              <a:t>Proxy’er giver mulighed for det – plus en masse andet funktionalitet</a:t>
            </a:r>
          </a:p>
          <a:p>
            <a:pPr marL="359410" indent="-359410"/>
            <a:r>
              <a:rPr lang="da-DK" dirty="0">
                <a:latin typeface="Arial"/>
                <a:ea typeface="Tahoma"/>
                <a:cs typeface="Arial"/>
              </a:rPr>
              <a:t>ZAP og </a:t>
            </a:r>
            <a:r>
              <a:rPr lang="da-DK" err="1">
                <a:latin typeface="Arial"/>
                <a:ea typeface="Tahoma"/>
                <a:cs typeface="Arial"/>
              </a:rPr>
              <a:t>Burp</a:t>
            </a:r>
            <a:r>
              <a:rPr lang="da-DK" dirty="0">
                <a:latin typeface="Arial"/>
                <a:ea typeface="Tahoma"/>
                <a:cs typeface="Arial"/>
              </a:rPr>
              <a:t> Suite</a:t>
            </a: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Hvorfor Burp? </a:t>
            </a:r>
            <a:endParaRPr lang="da-DK" dirty="0"/>
          </a:p>
          <a:p>
            <a:pPr marL="719455" lvl="1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Universel (Kali)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719455" lvl="1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Kan altid suppleres med ZAP, ffuf, …</a:t>
            </a:r>
          </a:p>
          <a:p>
            <a:pPr marL="719455" lvl="1" indent="-359410">
              <a:lnSpc>
                <a:spcPct val="113999"/>
              </a:lnSpc>
            </a:pPr>
            <a:endParaRPr lang="da-DK" dirty="0">
              <a:ea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1259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F499-A544-1002-08B9-04828429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 err="1"/>
              <a:t>Burp</a:t>
            </a:r>
            <a:r>
              <a:rPr lang="da-DK" dirty="0"/>
              <a:t> Suite - funktionalitet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F0979-3C4E-1060-760D-09AD712F8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>
                <a:latin typeface="Arial"/>
                <a:ea typeface="Tahoma"/>
                <a:cs typeface="Arial"/>
              </a:rPr>
              <a:t>Proxy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719455" lvl="1" indent="-359410">
              <a:lnSpc>
                <a:spcPct val="113999"/>
              </a:lnSpc>
              <a:buFont typeface="Courier New" panose="020B0604020202020204" pitchFamily="34" charset="0"/>
              <a:buChar char="o"/>
            </a:pPr>
            <a:r>
              <a:rPr lang="da-DK">
                <a:latin typeface="Arial"/>
                <a:ea typeface="Tahoma"/>
                <a:cs typeface="Arial"/>
              </a:rPr>
              <a:t>Browser</a:t>
            </a:r>
          </a:p>
          <a:p>
            <a:pPr marL="719455" lvl="1" indent="-359410">
              <a:buFont typeface="Courier New" panose="020B0604020202020204" pitchFamily="34" charset="0"/>
              <a:buChar char="o"/>
            </a:pPr>
            <a:r>
              <a:rPr lang="da-DK">
                <a:latin typeface="Arial"/>
                <a:ea typeface="Tahoma"/>
                <a:cs typeface="Arial"/>
              </a:rPr>
              <a:t>Intercept</a:t>
            </a:r>
            <a:endParaRPr lang="da-DK">
              <a:ea typeface="Tahoma"/>
            </a:endParaRPr>
          </a:p>
          <a:p>
            <a:pPr marL="719455" lvl="1" indent="-359410">
              <a:lnSpc>
                <a:spcPct val="113999"/>
              </a:lnSpc>
              <a:buFont typeface="Courier New" panose="020B0604020202020204" pitchFamily="34" charset="0"/>
              <a:buChar char="o"/>
            </a:pPr>
            <a:r>
              <a:rPr lang="da-DK">
                <a:latin typeface="Arial"/>
                <a:ea typeface="Tahoma"/>
                <a:cs typeface="Arial"/>
              </a:rPr>
              <a:t>History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Target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719455" lvl="1" indent="-359410">
              <a:lnSpc>
                <a:spcPct val="113999"/>
              </a:lnSpc>
              <a:buFont typeface="Courier New" panose="020B0604020202020204" pitchFamily="34" charset="0"/>
              <a:buChar char="o"/>
            </a:pPr>
            <a:r>
              <a:rPr lang="da-DK">
                <a:latin typeface="Arial"/>
                <a:ea typeface="Tahoma"/>
                <a:cs typeface="Arial"/>
              </a:rPr>
              <a:t>Site map</a:t>
            </a:r>
          </a:p>
          <a:p>
            <a:pPr marL="719455" lvl="1" indent="-359410">
              <a:lnSpc>
                <a:spcPct val="113999"/>
              </a:lnSpc>
              <a:buFont typeface="Courier New" panose="020B0604020202020204" pitchFamily="34" charset="0"/>
              <a:buChar char="o"/>
            </a:pPr>
            <a:r>
              <a:rPr lang="da-DK">
                <a:latin typeface="Arial"/>
                <a:ea typeface="Tahoma"/>
                <a:cs typeface="Arial"/>
              </a:rPr>
              <a:t>Scope</a:t>
            </a:r>
            <a:endParaRPr lang="da-DK" sz="2400" dirty="0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cs typeface="Arial"/>
              </a:rPr>
              <a:t>Intruder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359410" indent="-359410"/>
            <a:r>
              <a:rPr lang="da-DK"/>
              <a:t>Repeater</a:t>
            </a:r>
            <a:endParaRPr lang="da-DK" dirty="0"/>
          </a:p>
          <a:p>
            <a:r>
              <a:rPr lang="da-DK" dirty="0"/>
              <a:t>De- og encoder 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0B31D-FE95-D256-ACF8-BA1C67ED986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BC3D8-0367-AC50-AF72-7AC9F90656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66F73-84A5-AAC7-9271-7D6A6302FF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8909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F97AF-B354-DFD1-BE81-C4E6A301B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D215-CEB0-A224-C807-EC0B12FC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Proxy</a:t>
            </a:r>
            <a:br>
              <a:rPr lang="da-DK" dirty="0">
                <a:latin typeface="Arial"/>
                <a:ea typeface="Verdana"/>
                <a:cs typeface="Arial"/>
              </a:rPr>
            </a:br>
            <a:r>
              <a:rPr lang="da-DK">
                <a:latin typeface="Arial"/>
                <a:ea typeface="Verdana"/>
                <a:cs typeface="Arial"/>
              </a:rPr>
              <a:t>Browser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B4ED7-7794-4CFC-4C0C-43068E709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9ED49-FF69-E1C5-B8B0-F258A57BD38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1B336-A4B0-36FA-2AD8-68E907D6AB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91736-86BF-D40E-0A90-6D4E12196C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31</a:t>
            </a:fld>
            <a:endParaRPr lang="da-DK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FDE009-B800-94F8-5FD0-30DEC6F71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327" y="1048774"/>
            <a:ext cx="8785765" cy="573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4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1C03A-DE6C-9049-E614-6B15180A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FE6B-1128-0DF4-6C86-15F8E2183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Proxy</a:t>
            </a:r>
            <a:br>
              <a:rPr lang="da-DK" dirty="0">
                <a:latin typeface="Arial"/>
                <a:ea typeface="Verdana"/>
                <a:cs typeface="Arial"/>
              </a:rPr>
            </a:br>
            <a:r>
              <a:rPr lang="da-DK">
                <a:latin typeface="Arial"/>
                <a:ea typeface="Verdana"/>
                <a:cs typeface="Arial"/>
              </a:rPr>
              <a:t>Intercept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F04A7-CFF3-F83E-61EE-D91B9672A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4C0DD-F5D8-D5C0-9803-E6D8954FFA8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6BAF3-96C6-9659-4DBC-3BCE17010A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75DC2-1F8D-9835-82C1-699778806D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32</a:t>
            </a:fld>
            <a:endParaRPr lang="da-DK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A35105-8E47-77EB-3899-B19952BC6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840" y="1853184"/>
            <a:ext cx="9447159" cy="50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862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F2E96-734E-8E43-E36C-8AC3433D7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5325-3BA7-9B56-46AF-47B92870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Proxy</a:t>
            </a:r>
            <a:br>
              <a:rPr lang="da-DK" dirty="0">
                <a:latin typeface="Arial"/>
                <a:ea typeface="Verdana"/>
                <a:cs typeface="Arial"/>
              </a:rPr>
            </a:br>
            <a:r>
              <a:rPr lang="da-DK">
                <a:latin typeface="Arial"/>
                <a:ea typeface="Verdana"/>
                <a:cs typeface="Arial"/>
              </a:rPr>
              <a:t>History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E699B-3CFC-448F-22EB-2ED09CEDDB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2BE8D-38DA-B8CD-D68F-1327D517A1D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79B28-BD77-DD19-9512-450D7796DE2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DEE05-228F-AD85-D307-FA481D429B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33</a:t>
            </a:fld>
            <a:endParaRPr lang="da-DK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0C457A-79BA-0B17-2D95-9C3257B82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299" y="1742836"/>
            <a:ext cx="9720825" cy="511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47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B87F3-CFAD-0599-7B22-33D091AA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51F5-C448-497C-CC0D-925D04C1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Target</a:t>
            </a:r>
            <a:br>
              <a:rPr lang="da-DK" dirty="0">
                <a:latin typeface="Arial"/>
                <a:ea typeface="Verdana"/>
                <a:cs typeface="Arial"/>
              </a:rPr>
            </a:br>
            <a:r>
              <a:rPr lang="da-DK">
                <a:latin typeface="Arial"/>
                <a:ea typeface="Verdana"/>
                <a:cs typeface="Arial"/>
              </a:rPr>
              <a:t>Site map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30443-3133-2C71-927C-CF085088A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9AE43-0D39-220C-7753-C8DD39244D3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28B87-BB51-94D6-C99C-06C2FE572E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45758-9B85-29A5-FF1E-F5159CED6D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34</a:t>
            </a:fld>
            <a:endParaRPr lang="da-DK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420B4A-B29F-524E-41F9-88F74DF24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076" y="925869"/>
            <a:ext cx="8362234" cy="593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95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744CA-0804-DE63-6A6D-AA9F83C5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FC0B6-DAC9-68EE-91A9-7EC1B393A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Target</a:t>
            </a:r>
            <a:br>
              <a:rPr lang="da-DK" dirty="0">
                <a:latin typeface="Arial"/>
                <a:ea typeface="Verdana"/>
                <a:cs typeface="Arial"/>
              </a:rPr>
            </a:br>
            <a:r>
              <a:rPr lang="da-DK">
                <a:latin typeface="Arial"/>
                <a:ea typeface="Verdana"/>
                <a:cs typeface="Arial"/>
              </a:rPr>
              <a:t>Scope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2C6F0-1660-F641-B075-3DAB05FFFD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B7A66-F54F-8BD8-648E-7F9F60D2A32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DF567-6EF8-12BA-1BC3-0660DF513D3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AC018-29E6-DCD7-14B8-C175E3DFED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35</a:t>
            </a:fld>
            <a:endParaRPr lang="da-DK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00AC3B-EC9F-D192-D107-B77B54A58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046" y="729226"/>
            <a:ext cx="8774618" cy="61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88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0724E-0A5D-B719-39D2-EA39715A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8BBB-8285-6C59-76A9-EFAB4615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Repeater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1C208-0BB0-F4CE-D1CA-0A2D5F7E85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>
                <a:latin typeface="Arial"/>
                <a:ea typeface="Tahoma"/>
                <a:cs typeface="Arial"/>
              </a:rPr>
              <a:t>Fra Site map, Intercept eller History:</a:t>
            </a:r>
            <a:br>
              <a:rPr lang="da-DK" dirty="0">
                <a:latin typeface="Arial"/>
                <a:ea typeface="Tahoma"/>
                <a:cs typeface="Arial"/>
              </a:rPr>
            </a:br>
            <a:r>
              <a:rPr lang="da-DK" b="1">
                <a:latin typeface="Arial"/>
                <a:ea typeface="Tahoma"/>
                <a:cs typeface="Arial"/>
              </a:rPr>
              <a:t>CTRL+R</a:t>
            </a: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Workflow: edit -&gt; CTRL-SPC -&gt; edit -&gt; ...</a:t>
            </a:r>
            <a:endParaRPr lang="da-DK" dirty="0">
              <a:latin typeface="Arial"/>
              <a:ea typeface="Tahoma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97D8E-6308-E6CD-F6C5-84717B77F00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09FD2-9037-BC11-0AE2-26E5E8697D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794E6-BF19-5C37-CECC-36904931BC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36</a:t>
            </a:fld>
            <a:endParaRPr lang="da-DK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6A7D0DB-2E06-2663-0AAD-BBC733B89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581" y="2552019"/>
            <a:ext cx="9901904" cy="423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6565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19AD-CD71-72DF-DD42-A5A4AB8E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6982-DD54-3A4E-6D96-B2E69BAE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Intruder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F7F7C-DD59-1ED9-99A2-CECEAEF272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>
                <a:latin typeface="Arial"/>
                <a:ea typeface="Tahoma"/>
                <a:cs typeface="Arial"/>
              </a:rPr>
              <a:t>Fra Site map, Intercept eller History:</a:t>
            </a:r>
            <a:br>
              <a:rPr lang="da-DK" dirty="0">
                <a:latin typeface="Arial"/>
                <a:ea typeface="Tahoma"/>
                <a:cs typeface="Arial"/>
              </a:rPr>
            </a:br>
            <a:r>
              <a:rPr lang="da-DK" b="1">
                <a:latin typeface="Arial"/>
                <a:ea typeface="Tahoma"/>
                <a:cs typeface="Arial"/>
              </a:rPr>
              <a:t>CTRL+I</a:t>
            </a: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Kan f.eks. bruges til: bruteforcing og discovery</a:t>
            </a:r>
            <a:endParaRPr lang="da-DK" dirty="0">
              <a:latin typeface="Arial"/>
              <a:ea typeface="Tahoma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53C53-C761-5612-61BA-A1076D5ECAA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F4F6-2C53-24E3-936E-D5A79440A4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F9B4B-1821-ED4A-CED5-7CFA171600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37</a:t>
            </a:fld>
            <a:endParaRPr lang="da-DK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96FB08-DC81-6DBB-A731-F38911761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1081"/>
            <a:ext cx="12192000" cy="39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84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9C8F-6685-E301-6FD3-283D4154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5C26-B06A-2CC3-4EA1-49E5A24A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>
                <a:latin typeface="Arial"/>
                <a:ea typeface="Verdana"/>
                <a:cs typeface="Arial"/>
              </a:rPr>
              <a:t>Øvelse</a:t>
            </a:r>
            <a:br>
              <a:rPr lang="da-DK" dirty="0"/>
            </a:br>
            <a:r>
              <a:rPr lang="da-DK">
                <a:latin typeface="Arial"/>
                <a:ea typeface="Verdana"/>
                <a:cs typeface="Arial"/>
              </a:rPr>
              <a:t>Setup og Discovery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78439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9C8F-6685-E301-6FD3-283D4154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5C26-B06A-2CC3-4EA1-49E5A24A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/>
              <a:t>Øvelse</a:t>
            </a:r>
            <a:br>
              <a:rPr lang="da-DK" dirty="0"/>
            </a:br>
            <a:r>
              <a:rPr lang="da-DK" dirty="0" err="1"/>
              <a:t>Improper</a:t>
            </a:r>
            <a:r>
              <a:rPr lang="da-DK" dirty="0"/>
              <a:t> Input Validation</a:t>
            </a:r>
          </a:p>
        </p:txBody>
      </p:sp>
    </p:spTree>
    <p:extLst>
      <p:ext uri="{BB962C8B-B14F-4D97-AF65-F5344CB8AC3E}">
        <p14:creationId xmlns:p14="http://schemas.microsoft.com/office/powerpoint/2010/main" val="15164838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0863-87E4-EAAB-633E-CC22ABA6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/>
              <a:t>Øvelse</a:t>
            </a:r>
            <a:br>
              <a:rPr lang="da-DK" dirty="0"/>
            </a:br>
            <a:r>
              <a:rPr lang="da-DK" dirty="0"/>
              <a:t>XSS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552769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F0A0-92DD-676C-B23B-042E87E0D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/>
              <a:t>Øvelse</a:t>
            </a:r>
            <a:br>
              <a:rPr lang="da-DK" dirty="0"/>
            </a:br>
            <a:r>
              <a:rPr lang="da-DK" dirty="0"/>
              <a:t>Password </a:t>
            </a:r>
            <a:r>
              <a:rPr lang="da-DK" dirty="0" err="1"/>
              <a:t>Strength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1282224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B489-6061-E534-FBDA-9446E046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Sessionshåndtering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9308750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17CE-B236-1F1E-68E6-3C7F03C82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Sessioner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F992E-76CE-DD5D-629D-12BFB6F035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 dirty="0">
                <a:latin typeface="Arial"/>
                <a:ea typeface="Tahoma"/>
                <a:cs typeface="Arial"/>
              </a:rPr>
              <a:t>HTTP er ‘</a:t>
            </a:r>
            <a:r>
              <a:rPr lang="da-DK" err="1">
                <a:latin typeface="Arial"/>
                <a:ea typeface="Tahoma"/>
                <a:cs typeface="Arial"/>
              </a:rPr>
              <a:t>stateless</a:t>
            </a:r>
            <a:r>
              <a:rPr lang="da-DK" dirty="0">
                <a:latin typeface="Arial"/>
                <a:ea typeface="Tahoma"/>
                <a:cs typeface="Arial"/>
              </a:rPr>
              <a:t>’</a:t>
            </a:r>
            <a:endParaRPr lang="en-US">
              <a:latin typeface="Arial"/>
              <a:ea typeface="Tahoma"/>
              <a:cs typeface="Arial"/>
            </a:endParaRPr>
          </a:p>
          <a:p>
            <a:pPr marL="359410" indent="-359410"/>
            <a:r>
              <a:rPr lang="da-DK" dirty="0">
                <a:latin typeface="Arial"/>
                <a:ea typeface="Tahoma"/>
                <a:cs typeface="Arial"/>
              </a:rPr>
              <a:t>+ brugere kan ikke skrive deres kode for hver </a:t>
            </a:r>
            <a:r>
              <a:rPr lang="da-DK" err="1">
                <a:latin typeface="Arial"/>
                <a:ea typeface="Tahoma"/>
                <a:cs typeface="Arial"/>
              </a:rPr>
              <a:t>request</a:t>
            </a:r>
            <a:endParaRPr lang="da-DK">
              <a:latin typeface="Arial"/>
              <a:ea typeface="Tahoma"/>
              <a:cs typeface="Arial"/>
            </a:endParaRPr>
          </a:p>
          <a:p>
            <a:r>
              <a:rPr lang="da-DK" dirty="0"/>
              <a:t>= behov for session</a:t>
            </a:r>
          </a:p>
          <a:p>
            <a:r>
              <a:rPr lang="da-DK" dirty="0"/>
              <a:t>Generelt</a:t>
            </a:r>
          </a:p>
          <a:p>
            <a:pPr lvl="1"/>
            <a:r>
              <a:rPr lang="da-DK" dirty="0"/>
              <a:t>Session ids </a:t>
            </a:r>
          </a:p>
          <a:p>
            <a:pPr lvl="1"/>
            <a:r>
              <a:rPr lang="da-DK" dirty="0"/>
              <a:t>JWT</a:t>
            </a:r>
          </a:p>
          <a:p>
            <a:pPr marL="359410" indent="-359410">
              <a:lnSpc>
                <a:spcPct val="113999"/>
              </a:lnSpc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740135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8BB4-880B-1D75-946E-962BB502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JSON Web Token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B0C60-B6F9-0569-1E6D-C9A4182C6B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366A4-33CB-8937-0B41-9CC77925E9D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5E0DD-6808-3472-491E-67A5E6EDAC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B10A2-BFD1-4778-A8D2-213D90F2DB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44</a:t>
            </a:fld>
            <a:endParaRPr lang="da-DK"/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1FA5C47-84DF-9EEE-D775-AD766FE97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773" y="1526130"/>
            <a:ext cx="10188678" cy="468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297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5411-9A0E-3912-8271-BC17DF108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E5E08-32A6-B0FC-1F78-E5986E7A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Decoder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F2B79-8CAF-44CB-B238-13CEE97EE8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endParaRPr lang="da-DK" b="1" dirty="0">
              <a:latin typeface="Arial"/>
              <a:ea typeface="Tahoma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E2809-3D3C-A31A-1975-B78AA4A97D3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17.03.2026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FE18C-6CBA-719E-D8FE-867890FD5A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CFF9F-884A-0570-0AE0-7555E62E4D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45</a:t>
            </a:fld>
            <a:endParaRPr lang="da-DK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DCE229-197E-32FD-AF93-463B083A9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7945"/>
            <a:ext cx="12192000" cy="248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652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146F-74F2-348C-D0D7-4AA346176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/>
              <a:t>Øvelse</a:t>
            </a:r>
            <a:br>
              <a:rPr lang="da-DK" dirty="0"/>
            </a:br>
            <a:r>
              <a:rPr lang="da-DK" dirty="0"/>
              <a:t>Sessionshåndtering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738666259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side">
  <a:themeElements>
    <a:clrScheme name="Alexandra Instituttet farver 2024">
      <a:dk1>
        <a:srgbClr val="343434"/>
      </a:dk1>
      <a:lt1>
        <a:srgbClr val="FFFFFF"/>
      </a:lt1>
      <a:dk2>
        <a:srgbClr val="343434"/>
      </a:dk2>
      <a:lt2>
        <a:srgbClr val="EDEDED"/>
      </a:lt2>
      <a:accent1>
        <a:srgbClr val="002A3F"/>
      </a:accent1>
      <a:accent2>
        <a:srgbClr val="0E495F"/>
      </a:accent2>
      <a:accent3>
        <a:srgbClr val="7797A5"/>
      </a:accent3>
      <a:accent4>
        <a:srgbClr val="9DB2BB"/>
      </a:accent4>
      <a:accent5>
        <a:srgbClr val="2B6B8B"/>
      </a:accent5>
      <a:accent6>
        <a:srgbClr val="BE5D2B"/>
      </a:accent6>
      <a:hlink>
        <a:srgbClr val="BE5D2B"/>
      </a:hlink>
      <a:folHlink>
        <a:srgbClr val="95989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lexandra_Instituttet_2022_DK" id="{4A3BB4F3-E6E2-C94B-9938-7B191890F638}" vid="{0E9BCA01-149E-234A-89EB-7639E86386C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2297d5-60a3-4378-8fa0-0f27dec9bc09">
      <Terms xmlns="http://schemas.microsoft.com/office/infopath/2007/PartnerControls"/>
    </lcf76f155ced4ddcb4097134ff3c332f>
    <TaxCatchAll xmlns="b7a1e643-70f8-4e3c-953a-3408b8617d0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7C4D7E2A2944090E7FCAA05E5A1BB" ma:contentTypeVersion="10" ma:contentTypeDescription="Create a new document." ma:contentTypeScope="" ma:versionID="5654dc2dce5cea82e1ab13b5f3604516">
  <xsd:schema xmlns:xsd="http://www.w3.org/2001/XMLSchema" xmlns:xs="http://www.w3.org/2001/XMLSchema" xmlns:p="http://schemas.microsoft.com/office/2006/metadata/properties" xmlns:ns2="992297d5-60a3-4378-8fa0-0f27dec9bc09" xmlns:ns3="b7a1e643-70f8-4e3c-953a-3408b8617d0b" targetNamespace="http://schemas.microsoft.com/office/2006/metadata/properties" ma:root="true" ma:fieldsID="feedf58334a1fa6c1b64214aa0d99011" ns2:_="" ns3:_="">
    <xsd:import namespace="992297d5-60a3-4378-8fa0-0f27dec9bc09"/>
    <xsd:import namespace="b7a1e643-70f8-4e3c-953a-3408b8617d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297d5-60a3-4378-8fa0-0f27dec9bc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ed45bc6-4cda-4749-a7f6-2a7b80b4ce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1e643-70f8-4e3c-953a-3408b8617d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c1ff10-0bec-441f-aebe-baec60099296}" ma:internalName="TaxCatchAll" ma:showField="CatchAllData" ma:web="b7a1e643-70f8-4e3c-953a-3408b8617d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89B6C1-278B-4679-8048-46DF9121B232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2006/metadata/properties"/>
    <ds:schemaRef ds:uri="b7a1e643-70f8-4e3c-953a-3408b8617d0b"/>
    <ds:schemaRef ds:uri="http://purl.org/dc/terms/"/>
    <ds:schemaRef ds:uri="http://schemas.microsoft.com/office/infopath/2007/PartnerControls"/>
    <ds:schemaRef ds:uri="992297d5-60a3-4378-8fa0-0f27dec9bc09"/>
  </ds:schemaRefs>
</ds:datastoreItem>
</file>

<file path=customXml/itemProps2.xml><?xml version="1.0" encoding="utf-8"?>
<ds:datastoreItem xmlns:ds="http://schemas.openxmlformats.org/officeDocument/2006/customXml" ds:itemID="{C3DDB0D7-670D-4386-98F8-723229A4023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92297d5-60a3-4378-8fa0-0f27dec9bc09"/>
    <ds:schemaRef ds:uri="b7a1e643-70f8-4e3c-953a-3408b8617d0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35A7CD-B6F1-4816-BEEE-20D12C3BB6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DK-skabelon-Alexandra-Instituttet</Template>
  <TotalTime>251</TotalTime>
  <Words>975</Words>
  <Application>Microsoft Macintosh PowerPoint</Application>
  <PresentationFormat>Widescreen</PresentationFormat>
  <Paragraphs>292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Consolas</vt:lpstr>
      <vt:lpstr>Courier New</vt:lpstr>
      <vt:lpstr>Montserrat</vt:lpstr>
      <vt:lpstr>Tahoma</vt:lpstr>
      <vt:lpstr>Masterside</vt:lpstr>
      <vt:lpstr>Agenda: Dag 2</vt:lpstr>
      <vt:lpstr>Webapplikationstesting m. OWASP og JuiceShop</vt:lpstr>
      <vt:lpstr>Webapplikations-testing (pentesting)</vt:lpstr>
      <vt:lpstr>Pentestfaser og værktøjer</vt:lpstr>
      <vt:lpstr>Pentestfaser og værktøjer</vt:lpstr>
      <vt:lpstr>OWASP</vt:lpstr>
      <vt:lpstr>OWASP  Juice Shop</vt:lpstr>
      <vt:lpstr>Logging</vt:lpstr>
      <vt:lpstr>Øvelse Setup</vt:lpstr>
      <vt:lpstr>Webapplikationstesting m. devtools</vt:lpstr>
      <vt:lpstr>Devtools</vt:lpstr>
      <vt:lpstr>Devtools</vt:lpstr>
      <vt:lpstr>Devtools</vt:lpstr>
      <vt:lpstr>Devtools</vt:lpstr>
      <vt:lpstr>Devtools</vt:lpstr>
      <vt:lpstr>Devtools</vt:lpstr>
      <vt:lpstr>Devtools</vt:lpstr>
      <vt:lpstr>Improper Input Validation</vt:lpstr>
      <vt:lpstr>Server vs client side validering</vt:lpstr>
      <vt:lpstr>Øvelse Improper Input Validation</vt:lpstr>
      <vt:lpstr>Injection og XSS</vt:lpstr>
      <vt:lpstr>SQL injection (eller SQLi)</vt:lpstr>
      <vt:lpstr>SQL injection (eller SQLi)</vt:lpstr>
      <vt:lpstr>Cross-site scripting (eller XSS)</vt:lpstr>
      <vt:lpstr>Cross-site scripting (eller XSS)</vt:lpstr>
      <vt:lpstr>XSS (cross-site scripting)</vt:lpstr>
      <vt:lpstr>Øvelse Injection, XSS</vt:lpstr>
      <vt:lpstr>Webapplikationstesting m. Burp Suite</vt:lpstr>
      <vt:lpstr>Proxy-værktøjer</vt:lpstr>
      <vt:lpstr>Burp Suite - funktionalitet</vt:lpstr>
      <vt:lpstr>Proxy Browser</vt:lpstr>
      <vt:lpstr>Proxy Intercept</vt:lpstr>
      <vt:lpstr>Proxy History</vt:lpstr>
      <vt:lpstr>Target Site map</vt:lpstr>
      <vt:lpstr>Target Scope</vt:lpstr>
      <vt:lpstr>Repeater</vt:lpstr>
      <vt:lpstr>Intruder</vt:lpstr>
      <vt:lpstr>Øvelse Setup og Discovery</vt:lpstr>
      <vt:lpstr>Øvelse Improper Input Validation</vt:lpstr>
      <vt:lpstr>Øvelse XSS</vt:lpstr>
      <vt:lpstr>Øvelse Password Strength</vt:lpstr>
      <vt:lpstr>Sessionshåndtering</vt:lpstr>
      <vt:lpstr>Sessioner</vt:lpstr>
      <vt:lpstr>JSON Web Token</vt:lpstr>
      <vt:lpstr>Decoder</vt:lpstr>
      <vt:lpstr>Øvelse Sessionshåndtering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CyPro kursus</dc:title>
  <dc:creator>Frederik Mølgaard Thayssen</dc:creator>
  <cp:lastModifiedBy>Benjamin Salling Hvass</cp:lastModifiedBy>
  <cp:revision>310</cp:revision>
  <cp:lastPrinted>2025-02-12T10:34:21Z</cp:lastPrinted>
  <dcterms:created xsi:type="dcterms:W3CDTF">2023-11-20T12:59:19Z</dcterms:created>
  <dcterms:modified xsi:type="dcterms:W3CDTF">2026-03-17T11:45:33Z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0x0101003B27C4D7E2A2944090E7FCAA05E5A1BB</vt:lpwstr>
  </property>
  <property fmtid="{D5CDD505-2E9C-101B-9397-08002B2CF9AE}" pid="3" name="MediaServiceImageTags">
    <vt:lpwstr/>
  </property>
  <property fmtid="{D5CDD505-2E9C-101B-9397-08002B2CF9AE}" pid="4" name="MSIP_Label_015abd0b-e5c5-4790-8ca5-8bb2d8ba98d8_Enabled">
    <vt:lpwstr>true</vt:lpwstr>
  </property>
  <property fmtid="{D5CDD505-2E9C-101B-9397-08002B2CF9AE}" pid="5" name="MSIP_Label_015abd0b-e5c5-4790-8ca5-8bb2d8ba98d8_SetDate">
    <vt:lpwstr>2025-08-18T08:27:08Z</vt:lpwstr>
  </property>
  <property fmtid="{D5CDD505-2E9C-101B-9397-08002B2CF9AE}" pid="6" name="MSIP_Label_015abd0b-e5c5-4790-8ca5-8bb2d8ba98d8_Method">
    <vt:lpwstr>Privileged</vt:lpwstr>
  </property>
  <property fmtid="{D5CDD505-2E9C-101B-9397-08002B2CF9AE}" pid="7" name="MSIP_Label_015abd0b-e5c5-4790-8ca5-8bb2d8ba98d8_Name">
    <vt:lpwstr>Public</vt:lpwstr>
  </property>
  <property fmtid="{D5CDD505-2E9C-101B-9397-08002B2CF9AE}" pid="8" name="MSIP_Label_015abd0b-e5c5-4790-8ca5-8bb2d8ba98d8_SiteId">
    <vt:lpwstr>4bda23cd-4a87-419b-a47d-7673130b2884</vt:lpwstr>
  </property>
  <property fmtid="{D5CDD505-2E9C-101B-9397-08002B2CF9AE}" pid="9" name="MSIP_Label_015abd0b-e5c5-4790-8ca5-8bb2d8ba98d8_ActionId">
    <vt:lpwstr>bb77ce29-668d-4eb4-a284-0fbf7dcdc053</vt:lpwstr>
  </property>
  <property fmtid="{D5CDD505-2E9C-101B-9397-08002B2CF9AE}" pid="10" name="MSIP_Label_015abd0b-e5c5-4790-8ca5-8bb2d8ba98d8_ContentBits">
    <vt:lpwstr>1</vt:lpwstr>
  </property>
  <property fmtid="{D5CDD505-2E9C-101B-9397-08002B2CF9AE}" pid="11" name="MSIP_Label_015abd0b-e5c5-4790-8ca5-8bb2d8ba98d8_Tag">
    <vt:lpwstr>10, 0, 1, 1</vt:lpwstr>
  </property>
  <property fmtid="{D5CDD505-2E9C-101B-9397-08002B2CF9AE}" pid="12" name="ClassificationContentMarkingHeaderLocations">
    <vt:lpwstr>masterside:8</vt:lpwstr>
  </property>
  <property fmtid="{D5CDD505-2E9C-101B-9397-08002B2CF9AE}" pid="13" name="ClassificationContentMarkingHeaderText">
    <vt:lpwstr>PUBLIC</vt:lpwstr>
  </property>
</Properties>
</file>